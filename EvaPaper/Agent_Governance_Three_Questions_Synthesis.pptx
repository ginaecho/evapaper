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3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F8E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869680" y="914400"/>
            <a:ext cx="2103120" cy="2103120"/>
          </a:xfrm>
          <a:prstGeom prst="ellipse">
            <a:avLst/>
          </a:prstGeom>
          <a:solidFill>
            <a:srgbClr val="3F8E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7863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5F7FA"/>
                </a:solidFill>
                <a:latin typeface="Aptos"/>
              </a:defRPr>
            </a:pPr>
            <a:r>
              <a:t>Agent Governance Research Summary: Three Critical Questions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83464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3CDDC"/>
                </a:solidFill>
                <a:latin typeface="Aptos"/>
              </a:defRPr>
            </a:pPr>
            <a:r>
              <a:t>June 7, 2026 Static-First Update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212080"/>
            <a:ext cx="6217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3CDDC"/>
                </a:solidFill>
                <a:latin typeface="Aptos"/>
              </a:defRPr>
            </a:pPr>
            <a:r>
              <a:t>Generated locally from the current markdown sources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1155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3F8EFC"/>
                </a:solidFill>
              </a:defRPr>
            </a:pPr>
            <a:r>
              <a:t>EvaPaper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3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ECF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7772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5F7FA"/>
                </a:solidFill>
                <a:latin typeface="Aptos"/>
              </a:defRPr>
            </a:pPr>
            <a:r>
              <a:t>Key Takeaways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188720"/>
            <a:ext cx="11155680" cy="5212080"/>
          </a:xfrm>
          <a:prstGeom prst="roundRect">
            <a:avLst/>
          </a:prstGeom>
          <a:solidFill>
            <a:srgbClr val="18243A"/>
          </a:solidFill>
          <a:ln>
            <a:solidFill>
              <a:srgbClr val="182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508760"/>
            <a:ext cx="10424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C3CDDC"/>
                </a:solidFill>
                <a:latin typeface="Aptos"/>
              </a:defRPr>
            </a:pPr>
            <a:r>
              <a:t>Compiled by EvaPaper | June 6, 2026 Based on 32 papers across the Three-Layer Governance Stack</a:t>
            </a:r>
          </a:p>
          <a:p>
            <a:pPr>
              <a:spcAft>
                <a:spcPts val="1000"/>
              </a:spcAft>
              <a:defRPr sz="1800">
                <a:solidFill>
                  <a:srgbClr val="C3CDDC"/>
                </a:solidFill>
                <a:latin typeface="Aptos"/>
              </a:defRPr>
            </a:pPr>
            <a:r>
              <a:t>---</a:t>
            </a:r>
          </a:p>
          <a:p>
            <a:pPr>
              <a:spcAft>
                <a:spcPts val="1000"/>
              </a:spcAft>
              <a:defRPr sz="1800">
                <a:solidFill>
                  <a:srgbClr val="C3CDDC"/>
                </a:solidFill>
                <a:latin typeface="Aptos"/>
              </a:defRPr>
            </a:pPr>
            <a:r>
              <a:t>The latest local workflow run (make workflow-static) reinforces the earlier conclusion that the center of gravity for this project should remain stat…</a:t>
            </a:r>
          </a:p>
          <a:p>
            <a:pPr>
              <a:spcAft>
                <a:spcPts val="1000"/>
              </a:spcAft>
              <a:defRPr sz="1800">
                <a:solidFill>
                  <a:srgbClr val="C3CDDC"/>
                </a:solidFill>
                <a:latin typeface="Aptos"/>
              </a:defRPr>
            </a:pPr>
            <a:r>
              <a:t>For the question "which papers are about static checking of agent interactions?", the top matches from the indexed corpus are:</a:t>
            </a:r>
          </a:p>
          <a:p>
            <a:pPr>
              <a:spcAft>
                <a:spcPts val="1000"/>
              </a:spcAft>
              <a:defRPr sz="1800">
                <a:solidFill>
                  <a:srgbClr val="C3CDDC"/>
                </a:solidFill>
                <a:latin typeface="Aptos"/>
              </a:defRPr>
            </a:pPr>
            <a:r>
              <a:t>Skilldex</a:t>
            </a:r>
          </a:p>
          <a:p>
            <a:pPr>
              <a:spcAft>
                <a:spcPts val="1000"/>
              </a:spcAft>
              <a:defRPr sz="1800">
                <a:solidFill>
                  <a:srgbClr val="C3CDDC"/>
                </a:solidFill>
                <a:latin typeface="Aptos"/>
              </a:defRPr>
            </a:pPr>
            <a:r>
              <a:t>GovernSpec / Contractual Skills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1155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3ECFB9"/>
                </a:solidFill>
              </a:defRPr>
            </a:pPr>
            <a:r>
              <a:t>Overview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3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B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14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5F7FA"/>
                </a:solidFill>
                <a:latin typeface="Aptos"/>
              </a:defRPr>
            </a:pPr>
            <a:r>
              <a:t>Three Questions at a Glance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371600"/>
            <a:ext cx="3566160" cy="4663440"/>
          </a:xfrm>
          <a:prstGeom prst="roundRect">
            <a:avLst/>
          </a:prstGeom>
          <a:solidFill>
            <a:srgbClr val="18243A"/>
          </a:solidFill>
          <a:ln>
            <a:solidFill>
              <a:srgbClr val="182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" y="1645920"/>
            <a:ext cx="3246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F8EFC"/>
                </a:solidFill>
                <a:latin typeface="Aptos"/>
              </a:defRPr>
            </a:pPr>
            <a:r>
              <a:t>Q1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240280"/>
            <a:ext cx="32004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C3CDDC"/>
                </a:solidFill>
                <a:latin typeface="Aptos"/>
              </a:defRPr>
            </a:pPr>
            <a:r>
              <a:t>Do markdown skills affect behavior?</a:t>
            </a:r>
          </a:p>
          <a:p>
            <a:pPr>
              <a:spcAft>
                <a:spcPts val="800"/>
              </a:spcAft>
              <a:defRPr sz="1300">
                <a:solidFill>
                  <a:srgbClr val="C3CDDC"/>
                </a:solidFill>
                <a:latin typeface="Aptos"/>
              </a:defRPr>
            </a:pPr>
            <a:r>
              <a:t>Answer: yes, but probabilistically</a:t>
            </a:r>
          </a:p>
          <a:p>
            <a:pPr>
              <a:spcAft>
                <a:spcPts val="800"/>
              </a:spcAft>
              <a:defRPr sz="1300">
                <a:solidFill>
                  <a:srgbClr val="C3CDDC"/>
                </a:solidFill>
                <a:latin typeface="Aptos"/>
              </a:defRPr>
            </a:pPr>
            <a:r>
              <a:t>Strongest evidence: AGENTS.md and formatting studies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371600"/>
            <a:ext cx="3566160" cy="4663440"/>
          </a:xfrm>
          <a:prstGeom prst="roundRect">
            <a:avLst/>
          </a:prstGeom>
          <a:solidFill>
            <a:srgbClr val="1E2F49"/>
          </a:solidFill>
          <a:ln>
            <a:solidFill>
              <a:srgbClr val="1E2F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62272" y="1645920"/>
            <a:ext cx="3246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ECFB9"/>
                </a:solidFill>
                <a:latin typeface="Aptos"/>
              </a:defRPr>
            </a:pPr>
            <a:r>
              <a:t>Q2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2240280"/>
            <a:ext cx="32004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C3CDDC"/>
                </a:solidFill>
                <a:latin typeface="Aptos"/>
              </a:defRPr>
            </a:pPr>
            <a:r>
              <a:t>Can we check before runtime?</a:t>
            </a:r>
          </a:p>
          <a:p>
            <a:pPr>
              <a:spcAft>
                <a:spcPts val="800"/>
              </a:spcAft>
              <a:defRPr sz="1300">
                <a:solidFill>
                  <a:srgbClr val="C3CDDC"/>
                </a:solidFill>
                <a:latin typeface="Aptos"/>
              </a:defRPr>
            </a:pPr>
            <a:r>
              <a:t>Answer: partially yes</a:t>
            </a:r>
          </a:p>
          <a:p>
            <a:pPr>
              <a:spcAft>
                <a:spcPts val="800"/>
              </a:spcAft>
              <a:defRPr sz="1300">
                <a:solidFill>
                  <a:srgbClr val="C3CDDC"/>
                </a:solidFill>
                <a:latin typeface="Aptos"/>
              </a:defRPr>
            </a:pPr>
            <a:r>
              <a:t>Breakthrough: ZipperGen for multi-agent coordination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2440" y="1371600"/>
            <a:ext cx="3566160" cy="4663440"/>
          </a:xfrm>
          <a:prstGeom prst="roundRect">
            <a:avLst/>
          </a:prstGeom>
          <a:solidFill>
            <a:srgbClr val="18243A"/>
          </a:solidFill>
          <a:ln>
            <a:solidFill>
              <a:srgbClr val="182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57032" y="1645920"/>
            <a:ext cx="3246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A66EFF"/>
                </a:solidFill>
                <a:latin typeface="Aptos"/>
              </a:defRPr>
            </a:pPr>
            <a:r>
              <a:t>Q3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5320" y="2240280"/>
            <a:ext cx="32004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C3CDDC"/>
                </a:solidFill>
                <a:latin typeface="Aptos"/>
              </a:defRPr>
            </a:pPr>
            <a:r>
              <a:t>Can runtime checks be deterministic?</a:t>
            </a:r>
          </a:p>
          <a:p>
            <a:pPr>
              <a:spcAft>
                <a:spcPts val="800"/>
              </a:spcAft>
              <a:defRPr sz="1300">
                <a:solidFill>
                  <a:srgbClr val="C3CDDC"/>
                </a:solidFill>
                <a:latin typeface="Aptos"/>
              </a:defRPr>
            </a:pPr>
            <a:r>
              <a:t>Answer: yes, for structure and policy</a:t>
            </a:r>
          </a:p>
          <a:p>
            <a:pPr>
              <a:spcAft>
                <a:spcPts val="800"/>
              </a:spcAft>
              <a:defRPr sz="1300">
                <a:solidFill>
                  <a:srgbClr val="C3CDDC"/>
                </a:solidFill>
                <a:latin typeface="Aptos"/>
              </a:defRPr>
            </a:pPr>
            <a:r>
              <a:t>Best current formal side: ZipperGen, ACP, ABC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00800"/>
            <a:ext cx="11155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FFB347"/>
                </a:solidFill>
              </a:defRPr>
            </a:pPr>
            <a:r>
              <a:t>Illustrated summary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3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F8E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5F7FA"/>
                </a:solidFill>
                <a:latin typeface="Aptos"/>
              </a:defRPr>
            </a:pPr>
            <a:r>
              <a:t>June 7, 2026 Static-First Update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3063240"/>
            <a:ext cx="7772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3CDDC"/>
                </a:solidFill>
                <a:latin typeface="Aptos"/>
              </a:defRPr>
            </a:pPr>
            <a:r>
              <a:t>Curated from the current markdown report</a:t>
            </a:r>
          </a:p>
        </p:txBody>
      </p:sp>
      <p:sp>
        <p:nvSpPr>
          <p:cNvPr id="6" name="Hexagon 5"/>
          <p:cNvSpPr/>
          <p:nvPr/>
        </p:nvSpPr>
        <p:spPr>
          <a:xfrm>
            <a:off x="9509760" y="1645920"/>
            <a:ext cx="1645920" cy="1645920"/>
          </a:xfrm>
          <a:prstGeom prst="hexagon">
            <a:avLst/>
          </a:prstGeom>
          <a:solidFill>
            <a:srgbClr val="3F8E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1155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3F8EFC"/>
                </a:solidFill>
              </a:defRPr>
            </a:pPr>
            <a:r>
              <a:t>Section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3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F8E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5F7FA"/>
                </a:solidFill>
                <a:latin typeface="Aptos"/>
              </a:defRPr>
            </a:pPr>
            <a:r>
              <a:t>What the current workflow surfaced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143000"/>
            <a:ext cx="11155680" cy="5303520"/>
          </a:xfrm>
          <a:prstGeom prst="roundRect">
            <a:avLst/>
          </a:prstGeom>
          <a:solidFill>
            <a:srgbClr val="18243A"/>
          </a:solidFill>
          <a:ln>
            <a:solidFill>
              <a:srgbClr val="182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63040"/>
            <a:ext cx="10424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C3CDDC"/>
                </a:solidFill>
                <a:latin typeface="Aptos"/>
              </a:defRPr>
            </a:pPr>
            <a:r>
              <a:t>For the question "which papers are about static checking of agent interactions?", the top matches from the indexed corpus are:</a:t>
            </a:r>
          </a:p>
          <a:p>
            <a:pPr>
              <a:spcAft>
                <a:spcPts val="1000"/>
              </a:spcAft>
              <a:defRPr sz="1600">
                <a:solidFill>
                  <a:srgbClr val="C3CDDC"/>
                </a:solidFill>
                <a:latin typeface="Aptos"/>
              </a:defRPr>
            </a:pPr>
            <a:r>
              <a:t>Skilldex</a:t>
            </a:r>
          </a:p>
          <a:p>
            <a:pPr>
              <a:spcAft>
                <a:spcPts val="1000"/>
              </a:spcAft>
              <a:defRPr sz="1600">
                <a:solidFill>
                  <a:srgbClr val="C3CDDC"/>
                </a:solidFill>
                <a:latin typeface="Aptos"/>
              </a:defRPr>
            </a:pPr>
            <a:r>
              <a:t>GovernSpec / Contractual Skills</a:t>
            </a:r>
          </a:p>
          <a:p>
            <a:pPr>
              <a:spcAft>
                <a:spcPts val="1000"/>
              </a:spcAft>
              <a:defRPr sz="1600">
                <a:solidFill>
                  <a:srgbClr val="C3CDDC"/>
                </a:solidFill>
                <a:latin typeface="Aptos"/>
              </a:defRPr>
            </a:pPr>
            <a:r>
              <a:t>SkCC</a:t>
            </a:r>
          </a:p>
          <a:p>
            <a:pPr>
              <a:spcAft>
                <a:spcPts val="1000"/>
              </a:spcAft>
              <a:defRPr sz="1600">
                <a:solidFill>
                  <a:srgbClr val="C3CDDC"/>
                </a:solidFill>
                <a:latin typeface="Aptos"/>
              </a:defRPr>
            </a:pPr>
            <a:r>
              <a:t>OWASP Top 10 for Agentic Skills (AST10)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1155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3F8EFC"/>
                </a:solidFill>
              </a:defRPr>
            </a:pPr>
            <a:r>
              <a:t>EvaPaper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3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F8E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5F7FA"/>
                </a:solidFill>
                <a:latin typeface="Aptos"/>
              </a:defRPr>
            </a:pPr>
            <a:r>
              <a:t>What changed in the interpretation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143000"/>
            <a:ext cx="11155680" cy="5303520"/>
          </a:xfrm>
          <a:prstGeom prst="roundRect">
            <a:avLst/>
          </a:prstGeom>
          <a:solidFill>
            <a:srgbClr val="18243A"/>
          </a:solidFill>
          <a:ln>
            <a:solidFill>
              <a:srgbClr val="182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63040"/>
            <a:ext cx="10424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C3CDDC"/>
                </a:solidFill>
                <a:latin typeface="Aptos"/>
              </a:defRPr>
            </a:pPr>
            <a:r>
              <a:t>Skill/package validation is now the practical starting point. Skilldex, AST10, and GovernSpec consistently surface as the strongest evidence that mal…</a:t>
            </a:r>
          </a:p>
          <a:p>
            <a:pPr>
              <a:spcAft>
                <a:spcPts val="1000"/>
              </a:spcAft>
              <a:defRPr sz="1600">
                <a:solidFill>
                  <a:srgbClr val="C3CDDC"/>
                </a:solidFill>
                <a:latin typeface="Aptos"/>
              </a:defRPr>
            </a:pPr>
            <a:r>
              <a:t>Static interaction checking should be treated as a pipeline problem, not just a schema problem. Spec Kit / SDD and SkCC matter because they push gove…</a:t>
            </a:r>
          </a:p>
          <a:p>
            <a:pPr>
              <a:spcAft>
                <a:spcPts val="1000"/>
              </a:spcAft>
              <a:defRPr sz="1600">
                <a:solidFill>
                  <a:srgbClr val="C3CDDC"/>
                </a:solidFill>
                <a:latin typeface="Aptos"/>
              </a:defRPr>
            </a:pPr>
            <a:r>
              <a:t>Runtime governance remains necessary, but secondary for this repo's main question. The most useful retrieval path for the current corpus is still sta…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1155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3F8EFC"/>
                </a:solidFill>
              </a:defRPr>
            </a:pPr>
            <a:r>
              <a:t>EvaPaper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3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F8E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5F7FA"/>
                </a:solidFill>
                <a:latin typeface="Aptos"/>
              </a:defRPr>
            </a:pPr>
            <a:r>
              <a:t>Important operational note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143000"/>
            <a:ext cx="11155680" cy="5303520"/>
          </a:xfrm>
          <a:prstGeom prst="roundRect">
            <a:avLst/>
          </a:prstGeom>
          <a:solidFill>
            <a:srgbClr val="18243A"/>
          </a:solidFill>
          <a:ln>
            <a:solidFill>
              <a:srgbClr val="182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63040"/>
            <a:ext cx="10424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C3CDDC"/>
                </a:solidFill>
                <a:latin typeface="Aptos"/>
              </a:defRPr>
            </a:pPr>
            <a:r>
              <a:t>In this environment, external graph APIs were unavailable during the latest run, so the system fell back to the local indexed corpus. That does not w…</a:t>
            </a:r>
          </a:p>
          <a:p>
            <a:pPr>
              <a:spcAft>
                <a:spcPts val="1000"/>
              </a:spcAft>
              <a:defRPr sz="1600">
                <a:solidFill>
                  <a:srgbClr val="C3CDDC"/>
                </a:solidFill>
                <a:latin typeface="Aptos"/>
              </a:defRPr>
            </a:pPr>
            <a:r>
              <a:t>---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1155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3F8EFC"/>
                </a:solidFill>
              </a:defRPr>
            </a:pPr>
            <a:r>
              <a:t>EvaPaper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3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ECF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5F7FA"/>
                </a:solidFill>
                <a:latin typeface="Aptos"/>
              </a:defRPr>
            </a:pPr>
            <a:r>
              <a:t>Question 1: Do Skills / Agents Markdown Actually Affect Agent Behavior?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3063240"/>
            <a:ext cx="7772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3CDDC"/>
                </a:solidFill>
                <a:latin typeface="Aptos"/>
              </a:defRPr>
            </a:pPr>
            <a:r>
              <a:t>Curated from the current markdown report</a:t>
            </a:r>
          </a:p>
        </p:txBody>
      </p:sp>
      <p:sp>
        <p:nvSpPr>
          <p:cNvPr id="6" name="Hexagon 5"/>
          <p:cNvSpPr/>
          <p:nvPr/>
        </p:nvSpPr>
        <p:spPr>
          <a:xfrm>
            <a:off x="9509760" y="1645920"/>
            <a:ext cx="1645920" cy="1645920"/>
          </a:xfrm>
          <a:prstGeom prst="hexagon">
            <a:avLst/>
          </a:prstGeom>
          <a:solidFill>
            <a:srgbClr val="3ECF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1155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3ECFB9"/>
                </a:solidFill>
              </a:defRPr>
            </a:pPr>
            <a:r>
              <a:t>Section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3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ECF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5F7FA"/>
                </a:solidFill>
                <a:latin typeface="Aptos"/>
              </a:defRPr>
            </a:pPr>
            <a:r>
              <a:t>Short Answer: Yes, but not deterministically.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143000"/>
            <a:ext cx="11155680" cy="5303520"/>
          </a:xfrm>
          <a:prstGeom prst="roundRect">
            <a:avLst/>
          </a:prstGeom>
          <a:solidFill>
            <a:srgbClr val="18243A"/>
          </a:solidFill>
          <a:ln>
            <a:solidFill>
              <a:srgbClr val="182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63040"/>
            <a:ext cx="10424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C3CDDC"/>
                </a:solidFill>
                <a:latin typeface="Aptos"/>
              </a:defRPr>
            </a:pPr>
            <a:r>
              <a:t>The evidence across multiple papers shows that skill markdown (natural language instructions in skill files) does materially influence agent behavior…</a:t>
            </a:r>
          </a:p>
          <a:p>
            <a:pPr>
              <a:spcAft>
                <a:spcPts val="1000"/>
              </a:spcAft>
              <a:defRPr sz="1600">
                <a:solidFill>
                  <a:srgbClr val="C3CDDC"/>
                </a:solidFill>
                <a:latin typeface="Aptos"/>
              </a:defRPr>
            </a:pPr>
            <a:r>
              <a:t>---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1155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3ECFB9"/>
                </a:solidFill>
              </a:defRPr>
            </a:pPr>
            <a:r>
              <a:t>EvaPaper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3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ECF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5F7FA"/>
                </a:solidFill>
                <a:latin typeface="Aptos"/>
              </a:defRPr>
            </a:pPr>
            <a:r>
              <a:t>1. BIV — Behavioral Integrity Verification (arXiv:2605.11770, Layer 0)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143000"/>
            <a:ext cx="11155680" cy="5303520"/>
          </a:xfrm>
          <a:prstGeom prst="roundRect">
            <a:avLst/>
          </a:prstGeom>
          <a:solidFill>
            <a:srgbClr val="18243A"/>
          </a:solidFill>
          <a:ln>
            <a:solidFill>
              <a:srgbClr val="182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63040"/>
            <a:ext cx="10424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C3CDDC"/>
                </a:solidFill>
                <a:latin typeface="Aptos"/>
              </a:defRPr>
            </a:pPr>
            <a:r>
              <a:t>Key claim: "A fragment of natural-language text in a metadata file can override the agent's decision loop as effectively as code"</a:t>
            </a:r>
          </a:p>
          <a:p>
            <a:pPr>
              <a:spcAft>
                <a:spcPts val="1000"/>
              </a:spcAft>
              <a:defRPr sz="1600">
                <a:solidFill>
                  <a:srgbClr val="C3CDDC"/>
                </a:solidFill>
                <a:latin typeface="Aptos"/>
              </a:defRPr>
            </a:pPr>
            <a:r>
              <a:t>Evidence: 80% of skills deviate from declared behavior — implying the declared behavior (in markdown) is what agents attempt to follow, but implement…</a:t>
            </a:r>
          </a:p>
          <a:p>
            <a:pPr>
              <a:spcAft>
                <a:spcPts val="1000"/>
              </a:spcAft>
              <a:defRPr sz="1600">
                <a:solidFill>
                  <a:srgbClr val="C3CDDC"/>
                </a:solidFill>
                <a:latin typeface="Aptos"/>
              </a:defRPr>
            </a:pPr>
            <a:r>
              <a:t>Level of proof: Empirical observation, not formal guarantee</a:t>
            </a:r>
          </a:p>
          <a:p>
            <a:pPr>
              <a:spcAft>
                <a:spcPts val="1000"/>
              </a:spcAft>
              <a:defRPr sz="1600">
                <a:solidFill>
                  <a:srgbClr val="C3CDDC"/>
                </a:solidFill>
                <a:latin typeface="Aptos"/>
              </a:defRPr>
            </a:pPr>
            <a:r>
              <a:t>Mechanism: Skill instructions are injected into the model's context window alongside system prompts and user messages</a:t>
            </a:r>
          </a:p>
          <a:p>
            <a:pPr>
              <a:spcAft>
                <a:spcPts val="1000"/>
              </a:spcAft>
              <a:defRPr sz="1600">
                <a:solidFill>
                  <a:srgbClr val="C3CDDC"/>
                </a:solidFill>
                <a:latin typeface="Aptos"/>
              </a:defRPr>
            </a:pPr>
            <a:r>
              <a:t>Three levels of influence demonstrated: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1155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3ECFB9"/>
                </a:solidFill>
              </a:defRPr>
            </a:pPr>
            <a:r>
              <a:t>EvaPaper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3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ECF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5F7FA"/>
                </a:solidFill>
                <a:latin typeface="Aptos"/>
              </a:defRPr>
            </a:pPr>
            <a:r>
              <a:t>2. SSL Representation (arXiv:2604.24026, Layer 0)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143000"/>
            <a:ext cx="11155680" cy="5303520"/>
          </a:xfrm>
          <a:prstGeom prst="roundRect">
            <a:avLst/>
          </a:prstGeom>
          <a:solidFill>
            <a:srgbClr val="18243A"/>
          </a:solidFill>
          <a:ln>
            <a:solidFill>
              <a:srgbClr val="182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63040"/>
            <a:ext cx="10424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C3CDDC"/>
                </a:solidFill>
                <a:latin typeface="Aptos"/>
              </a:defRPr>
            </a:pPr>
            <a:r>
              <a:t>Key finding: 94% of skill descriptions can be decomposed into structured (scheduling, structural, logical) representations</a:t>
            </a:r>
          </a:p>
          <a:p>
            <a:pPr>
              <a:spcAft>
                <a:spcPts val="1000"/>
              </a:spcAft>
              <a:defRPr sz="1600">
                <a:solidFill>
                  <a:srgbClr val="C3CDDC"/>
                </a:solidFill>
                <a:latin typeface="Aptos"/>
              </a:defRPr>
            </a:pPr>
            <a:r>
              <a:t>Implication: If skill text were irrelevant, automatic decomposition wouldn't correlate with behavior</a:t>
            </a:r>
          </a:p>
          <a:p>
            <a:pPr>
              <a:spcAft>
                <a:spcPts val="1000"/>
              </a:spcAft>
              <a:defRPr sz="1600">
                <a:solidFill>
                  <a:srgbClr val="C3CDDC"/>
                </a:solidFill>
                <a:latin typeface="Aptos"/>
              </a:defRPr>
            </a:pPr>
            <a:r>
              <a:t>Proof type: Structural analysis showing skill text encodes executable intent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1155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3ECFB9"/>
                </a:solidFill>
              </a:defRPr>
            </a:pPr>
            <a:r>
              <a:t>EvaPaper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3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A66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5F7FA"/>
                </a:solidFill>
                <a:latin typeface="Aptos"/>
              </a:defRPr>
            </a:pPr>
            <a:r>
              <a:t>Question 2: Formal Static Typing / Checking Before Runtime?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3063240"/>
            <a:ext cx="7772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3CDDC"/>
                </a:solidFill>
                <a:latin typeface="Aptos"/>
              </a:defRPr>
            </a:pPr>
            <a:r>
              <a:t>Curated from the current markdown report</a:t>
            </a:r>
          </a:p>
        </p:txBody>
      </p:sp>
      <p:sp>
        <p:nvSpPr>
          <p:cNvPr id="6" name="Hexagon 5"/>
          <p:cNvSpPr/>
          <p:nvPr/>
        </p:nvSpPr>
        <p:spPr>
          <a:xfrm>
            <a:off x="9509760" y="1645920"/>
            <a:ext cx="1645920" cy="1645920"/>
          </a:xfrm>
          <a:prstGeom prst="hexagon">
            <a:avLst/>
          </a:prstGeom>
          <a:solidFill>
            <a:srgbClr val="A66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1155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A66EFF"/>
                </a:solidFill>
              </a:defRPr>
            </a:pPr>
            <a:r>
              <a:t>Section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3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A66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5F7FA"/>
                </a:solidFill>
                <a:latin typeface="Aptos"/>
              </a:defRPr>
            </a:pPr>
            <a:r>
              <a:t>Short Answer: Yes — and ZipperGen (arXiv:2604.17612) is the breakthrough for multi-agent coordination.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143000"/>
            <a:ext cx="11155680" cy="5303520"/>
          </a:xfrm>
          <a:prstGeom prst="roundRect">
            <a:avLst/>
          </a:prstGeom>
          <a:solidFill>
            <a:srgbClr val="18243A"/>
          </a:solidFill>
          <a:ln>
            <a:solidFill>
              <a:srgbClr val="182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63040"/>
            <a:ext cx="10424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C3CDDC"/>
                </a:solidFill>
                <a:latin typeface="Aptos"/>
              </a:defRPr>
            </a:pPr>
            <a:r>
              <a:t>---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1155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A66EFF"/>
                </a:solidFill>
              </a:defRPr>
            </a:pPr>
            <a:r>
              <a:t>EvaPaper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3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A66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5F7FA"/>
                </a:solidFill>
                <a:latin typeface="Aptos"/>
              </a:defRPr>
            </a:pPr>
            <a:r>
              <a:t>1. ZipperGen / Provable Coordination for LLM Agents via MSCs (arXiv:2604.17612, Cross-layer Layer 0+1) — Multi-Agent Coordination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143000"/>
            <a:ext cx="11155680" cy="5303520"/>
          </a:xfrm>
          <a:prstGeom prst="roundRect">
            <a:avLst/>
          </a:prstGeom>
          <a:solidFill>
            <a:srgbClr val="18243A"/>
          </a:solidFill>
          <a:ln>
            <a:solidFill>
              <a:srgbClr val="182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63040"/>
            <a:ext cx="10424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C3CDDC"/>
                </a:solidFill>
                <a:latin typeface="Aptos"/>
              </a:defRPr>
            </a:pPr>
            <a:r>
              <a:t>What it does: Domain-specific language (DSL) for specifying multi-agent coordination using Message Sequence Charts (MSCs). Syntax-directed projection…</a:t>
            </a:r>
          </a:p>
          <a:p>
            <a:pPr>
              <a:spcAft>
                <a:spcPts val="1000"/>
              </a:spcAft>
              <a:defRPr sz="1600">
                <a:solidFill>
                  <a:srgbClr val="C3CDDC"/>
                </a:solidFill>
                <a:latin typeface="Aptos"/>
              </a:defRPr>
            </a:pPr>
            <a:r>
              <a:t>Static analysis: Well-typedness checks (Definition 5) — payload matching, local type correctness, control condition well-typedness — all checked befo…</a:t>
            </a:r>
          </a:p>
          <a:p>
            <a:pPr>
              <a:spcAft>
                <a:spcPts val="1000"/>
              </a:spcAft>
              <a:defRPr sz="1600">
                <a:solidFill>
                  <a:srgbClr val="C3CDDC"/>
                </a:solidFill>
                <a:latin typeface="Aptos"/>
              </a:defRPr>
            </a:pPr>
            <a:r>
              <a:t>Formal guarantee: Deadlock-free by construction (Theorem in Section 5). The projection is a structural recursion with correctness proof by structural…</a:t>
            </a:r>
          </a:p>
          <a:p>
            <a:pPr>
              <a:spcAft>
                <a:spcPts val="1000"/>
              </a:spcAft>
              <a:defRPr sz="1600">
                <a:solidFill>
                  <a:srgbClr val="C3CDDC"/>
                </a:solidFill>
                <a:latin typeface="Aptos"/>
              </a:defRPr>
            </a:pPr>
            <a:r>
              <a:t>Key insight: Separates deterministic message-passing structure (formally specified, statically verified) from stochastic LLM actions (opaque, unpredi…</a:t>
            </a:r>
          </a:p>
          <a:p>
            <a:pPr>
              <a:spcAft>
                <a:spcPts val="1000"/>
              </a:spcAft>
              <a:defRPr sz="1600">
                <a:solidFill>
                  <a:srgbClr val="C3CDDC"/>
                </a:solidFill>
                <a:latin typeface="Aptos"/>
              </a:defRPr>
            </a:pPr>
            <a:r>
              <a:t>Open source: ZipperGen — https://zippergen.io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1155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A66EFF"/>
                </a:solidFill>
              </a:defRPr>
            </a:pPr>
            <a:r>
              <a:t>EvaPaper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3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A66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5F7FA"/>
                </a:solidFill>
                <a:latin typeface="Aptos"/>
              </a:defRPr>
            </a:pPr>
            <a:r>
              <a:t>2. SkillFortify (arXiv:2603.00195, Layer 0/1) — Most Advanced for Single-Agent Skills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143000"/>
            <a:ext cx="11155680" cy="5303520"/>
          </a:xfrm>
          <a:prstGeom prst="roundRect">
            <a:avLst/>
          </a:prstGeom>
          <a:solidFill>
            <a:srgbClr val="18243A"/>
          </a:solidFill>
          <a:ln>
            <a:solidFill>
              <a:srgbClr val="182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63040"/>
            <a:ext cx="10424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C3CDDC"/>
                </a:solidFill>
                <a:latin typeface="Aptos"/>
              </a:defRPr>
            </a:pPr>
            <a:r>
              <a:t>What it does: First formal analysis framework for skill supply chain security</a:t>
            </a:r>
          </a:p>
          <a:p>
            <a:pPr>
              <a:spcAft>
                <a:spcPts val="1000"/>
              </a:spcAft>
              <a:defRPr sz="1600">
                <a:solidFill>
                  <a:srgbClr val="C3CDDC"/>
                </a:solidFill>
                <a:latin typeface="Aptos"/>
              </a:defRPr>
            </a:pPr>
            <a:r>
              <a:t>Static analysis: Sound static analysis via abstract interpretation</a:t>
            </a:r>
          </a:p>
          <a:p>
            <a:pPr>
              <a:spcAft>
                <a:spcPts val="1000"/>
              </a:spcAft>
              <a:defRPr sz="1600">
                <a:solidFill>
                  <a:srgbClr val="C3CDDC"/>
                </a:solidFill>
                <a:latin typeface="Aptos"/>
              </a:defRPr>
            </a:pPr>
            <a:r>
              <a:t>Capability-based sandboxing: Confinement proof before deployment</a:t>
            </a:r>
          </a:p>
          <a:p>
            <a:pPr>
              <a:spcAft>
                <a:spcPts val="1000"/>
              </a:spcAft>
              <a:defRPr sz="1600">
                <a:solidFill>
                  <a:srgbClr val="C3CDDC"/>
                </a:solidFill>
                <a:latin typeface="Aptos"/>
              </a:defRPr>
            </a:pPr>
            <a:r>
              <a:t>Results: F1=96.95%, 0% false positives on 540 skills</a:t>
            </a:r>
          </a:p>
          <a:p>
            <a:pPr>
              <a:spcAft>
                <a:spcPts val="1000"/>
              </a:spcAft>
              <a:defRPr sz="1600">
                <a:solidFill>
                  <a:srgbClr val="C3CDDC"/>
                </a:solidFill>
                <a:latin typeface="Aptos"/>
              </a:defRPr>
            </a:pPr>
            <a:r>
              <a:t>Mechanism: Abstract interpretation builds a mathematical model of skill behavior; SAT-based resolution checks constraints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1155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A66EFF"/>
                </a:solidFill>
              </a:defRPr>
            </a:pPr>
            <a:r>
              <a:t>EvaPaper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3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B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5F7FA"/>
                </a:solidFill>
                <a:latin typeface="Aptos"/>
              </a:defRPr>
            </a:pPr>
            <a:r>
              <a:t>Question 3: Runtime Checking in a Deterministic Way (Not LLM-as-Judge)?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3063240"/>
            <a:ext cx="7772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3CDDC"/>
                </a:solidFill>
                <a:latin typeface="Aptos"/>
              </a:defRPr>
            </a:pPr>
            <a:r>
              <a:t>Curated from the current markdown report</a:t>
            </a:r>
          </a:p>
        </p:txBody>
      </p:sp>
      <p:sp>
        <p:nvSpPr>
          <p:cNvPr id="6" name="Hexagon 5"/>
          <p:cNvSpPr/>
          <p:nvPr/>
        </p:nvSpPr>
        <p:spPr>
          <a:xfrm>
            <a:off x="9509760" y="1645920"/>
            <a:ext cx="1645920" cy="1645920"/>
          </a:xfrm>
          <a:prstGeom prst="hexagon">
            <a:avLst/>
          </a:prstGeom>
          <a:solidFill>
            <a:srgbClr val="FFB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1155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FFB347"/>
                </a:solidFill>
              </a:defRPr>
            </a:pPr>
            <a:r>
              <a:t>Section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3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B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5F7FA"/>
                </a:solidFill>
                <a:latin typeface="Aptos"/>
              </a:defRPr>
            </a:pPr>
            <a:r>
              <a:t>Short Answer: Yes — and ZipperGen is the only multi-agent approach that deterministically enforces coordination structure.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143000"/>
            <a:ext cx="11155680" cy="5303520"/>
          </a:xfrm>
          <a:prstGeom prst="roundRect">
            <a:avLst/>
          </a:prstGeom>
          <a:solidFill>
            <a:srgbClr val="18243A"/>
          </a:solidFill>
          <a:ln>
            <a:solidFill>
              <a:srgbClr val="182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63040"/>
            <a:ext cx="10424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C3CDDC"/>
                </a:solidFill>
                <a:latin typeface="Aptos"/>
              </a:defRPr>
            </a:pPr>
            <a:r>
              <a:t>---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1155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FFB347"/>
                </a:solidFill>
              </a:defRPr>
            </a:pPr>
            <a:r>
              <a:t>EvaPaper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3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B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5F7FA"/>
                </a:solidFill>
                <a:latin typeface="Aptos"/>
              </a:defRPr>
            </a:pPr>
            <a:r>
              <a:t>1. ZipperGen / Provable Coordination for LLM Agents via MSCs (arXiv:2604.17612, Cross-layer Layer 0+1) — Multi-Agent Coordination — Breakthrough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143000"/>
            <a:ext cx="11155680" cy="5303520"/>
          </a:xfrm>
          <a:prstGeom prst="roundRect">
            <a:avLst/>
          </a:prstGeom>
          <a:solidFill>
            <a:srgbClr val="18243A"/>
          </a:solidFill>
          <a:ln>
            <a:solidFill>
              <a:srgbClr val="182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63040"/>
            <a:ext cx="10424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C3CDDC"/>
                </a:solidFill>
                <a:latin typeface="Aptos"/>
              </a:defRPr>
            </a:pPr>
            <a:r>
              <a:t>Deterministic: Yes — message-passing structure is formally specified and deterministically enforced; LLM actions remain opaque</a:t>
            </a:r>
          </a:p>
          <a:p>
            <a:pPr>
              <a:spcAft>
                <a:spcPts val="1000"/>
              </a:spcAft>
              <a:defRPr sz="1600">
                <a:solidFill>
                  <a:srgbClr val="C3CDDC"/>
                </a:solidFill>
                <a:latin typeface="Aptos"/>
              </a:defRPr>
            </a:pPr>
            <a:r>
              <a:t>Mechanism: Domain-specific language (DSL) based on Message Sequence Charts (MSCs). Syntax-directed projection generates local agent programs from glo…</a:t>
            </a:r>
          </a:p>
          <a:p>
            <a:pPr>
              <a:spcAft>
                <a:spcPts val="1000"/>
              </a:spcAft>
              <a:defRPr sz="1600">
                <a:solidFill>
                  <a:srgbClr val="C3CDDC"/>
                </a:solidFill>
                <a:latin typeface="Aptos"/>
              </a:defRPr>
            </a:pPr>
            <a:r>
              <a:t>Key innovation: The coordination structure (message passing, branch decisions, loops) is guaranteed correct by construction — deadlock-free, no messa…</a:t>
            </a:r>
          </a:p>
          <a:p>
            <a:pPr>
              <a:spcAft>
                <a:spcPts val="1000"/>
              </a:spcAft>
              <a:defRPr sz="1600">
                <a:solidFill>
                  <a:srgbClr val="C3CDDC"/>
                </a:solidFill>
                <a:latin typeface="Aptos"/>
              </a:defRPr>
            </a:pPr>
            <a:r>
              <a:t>Runtime: The projected local programs are deterministic finite-state programs that agents execute. No LLM-as-judge for coordination decisions.</a:t>
            </a:r>
          </a:p>
          <a:p>
            <a:pPr>
              <a:spcAft>
                <a:spcPts val="1000"/>
              </a:spcAft>
              <a:defRPr sz="1600">
                <a:solidFill>
                  <a:srgbClr val="C3CDDC"/>
                </a:solidFill>
                <a:latin typeface="Aptos"/>
              </a:defRPr>
            </a:pPr>
            <a:r>
              <a:t>Results: Deadlock-free by construction. Coordination properties established independently of LLM nondeterminism. Runtime planning extension: LLM dyna…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1155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FFB347"/>
                </a:solidFill>
              </a:defRPr>
            </a:pPr>
            <a:r>
              <a:t>EvaPaper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3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B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5F7FA"/>
                </a:solidFill>
                <a:latin typeface="Aptos"/>
              </a:defRPr>
            </a:pPr>
            <a:r>
              <a:t>2. ACP — Admission Control Protocol (arXiv:2603.18829, Layer 1) — Fastest Single-Agent + Formally Verified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143000"/>
            <a:ext cx="11155680" cy="5303520"/>
          </a:xfrm>
          <a:prstGeom prst="roundRect">
            <a:avLst/>
          </a:prstGeom>
          <a:solidFill>
            <a:srgbClr val="18243A"/>
          </a:solidFill>
          <a:ln>
            <a:solidFill>
              <a:srgbClr val="182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63040"/>
            <a:ext cx="10424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C3CDDC"/>
                </a:solidFill>
                <a:latin typeface="Aptos"/>
              </a:defRPr>
            </a:pPr>
            <a:r>
              <a:t>Deterministic: Yes — risk scoring is deterministic, not LLM-based</a:t>
            </a:r>
          </a:p>
          <a:p>
            <a:pPr>
              <a:spcAft>
                <a:spcPts val="1000"/>
              </a:spcAft>
              <a:defRPr sz="1600">
                <a:solidFill>
                  <a:srgbClr val="C3CDDC"/>
                </a:solidFill>
                <a:latin typeface="Aptos"/>
              </a:defRPr>
            </a:pPr>
            <a:r>
              <a:t>Mechanism: Temporal admission control with static risk scoring + stateful signals (anomaly accumulation, cooldown) through LedgerQuerier</a:t>
            </a:r>
          </a:p>
          <a:p>
            <a:pPr>
              <a:spcAft>
                <a:spcPts val="1000"/>
              </a:spcAft>
              <a:defRPr sz="1600">
                <a:solidFill>
                  <a:srgbClr val="C3CDDC"/>
                </a:solidFill>
                <a:latin typeface="Aptos"/>
              </a:defRPr>
            </a:pPr>
            <a:r>
              <a:t>Performance: 739-832 ns decision latency; 1,720,000 req/s throughput</a:t>
            </a:r>
          </a:p>
          <a:p>
            <a:pPr>
              <a:spcAft>
                <a:spcPts val="1000"/>
              </a:spcAft>
              <a:defRPr sz="1600">
                <a:solidFill>
                  <a:srgbClr val="C3CDDC"/>
                </a:solidFill>
                <a:latin typeface="Aptos"/>
              </a:defRPr>
            </a:pPr>
            <a:r>
              <a:t>Verification: TLA+ verified across 4,294,930,695 states, 11 invariants + 4 temporal properties, 0 violations</a:t>
            </a:r>
          </a:p>
          <a:p>
            <a:pPr>
              <a:spcAft>
                <a:spcPts val="1000"/>
              </a:spcAft>
              <a:defRPr sz="1600">
                <a:solidFill>
                  <a:srgbClr val="C3CDDC"/>
                </a:solidFill>
                <a:latin typeface="Aptos"/>
              </a:defRPr>
            </a:pPr>
            <a:r>
              <a:t>Key result: Stateless engines approve 100% of individually-valid requests in a 500-request attack chain; ACP limits autonomous execution to 0.4%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1155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FFB347"/>
                </a:solidFill>
              </a:defRPr>
            </a:pPr>
            <a:r>
              <a:t>EvaPaper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3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F8E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5F7FA"/>
                </a:solidFill>
                <a:latin typeface="Aptos"/>
              </a:defRPr>
            </a:pPr>
            <a:r>
              <a:t>Overall 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3063240"/>
            <a:ext cx="7772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3CDDC"/>
                </a:solidFill>
                <a:latin typeface="Aptos"/>
              </a:defRPr>
            </a:pPr>
            <a:r>
              <a:t>Curated from the current markdown report</a:t>
            </a:r>
          </a:p>
        </p:txBody>
      </p:sp>
      <p:sp>
        <p:nvSpPr>
          <p:cNvPr id="6" name="Hexagon 5"/>
          <p:cNvSpPr/>
          <p:nvPr/>
        </p:nvSpPr>
        <p:spPr>
          <a:xfrm>
            <a:off x="9509760" y="1645920"/>
            <a:ext cx="1645920" cy="1645920"/>
          </a:xfrm>
          <a:prstGeom prst="hexagon">
            <a:avLst/>
          </a:prstGeom>
          <a:solidFill>
            <a:srgbClr val="3F8E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1155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3F8EFC"/>
                </a:solidFill>
              </a:defRPr>
            </a:pPr>
            <a:r>
              <a:t>Section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3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F8E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5F7FA"/>
                </a:solidFill>
                <a:latin typeface="Aptos"/>
              </a:defRPr>
            </a:pPr>
            <a:r>
              <a:t>The Three Questions — Comprehensive Synthesis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143000"/>
            <a:ext cx="11155680" cy="5303520"/>
          </a:xfrm>
          <a:prstGeom prst="roundRect">
            <a:avLst/>
          </a:prstGeom>
          <a:solidFill>
            <a:srgbClr val="18243A"/>
          </a:solidFill>
          <a:ln>
            <a:solidFill>
              <a:srgbClr val="182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63040"/>
            <a:ext cx="10424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C3CDDC"/>
                </a:solidFill>
                <a:latin typeface="Aptos"/>
              </a:defRPr>
            </a:pPr>
            <a:r>
              <a:t>Question | Status | Best Existing Work | What ZipperGen Changes | What Remains Open</a:t>
            </a:r>
          </a:p>
          <a:p>
            <a:pPr>
              <a:spcAft>
                <a:spcPts val="1000"/>
              </a:spcAft>
              <a:defRPr sz="1600">
                <a:solidFill>
                  <a:srgbClr val="C3CDDC"/>
                </a:solidFill>
                <a:latin typeface="Aptos"/>
              </a:defRPr>
            </a:pPr>
            <a:r>
              <a:t>1. Do skills affect behavior? | ✅ Yes, empirically | He et al. 2024 (40% swing from format), Gloaguen et al. 2026 (50x compliance spike), Chen et al.…</a:t>
            </a:r>
          </a:p>
          <a:p>
            <a:pPr>
              <a:spcAft>
                <a:spcPts val="1000"/>
              </a:spcAft>
              <a:defRPr sz="1600">
                <a:solidFill>
                  <a:srgbClr val="C3CDDC"/>
                </a:solidFill>
                <a:latin typeface="Aptos"/>
              </a:defRPr>
            </a:pPr>
            <a:r>
              <a:t>2. Static type checking? | ✅ Yes for multi-agent | ZipperGen — formal well-typedness checks, deadlock-free by construction | Closes the MPST gap: for…</a:t>
            </a:r>
          </a:p>
          <a:p>
            <a:pPr>
              <a:spcAft>
                <a:spcPts val="1000"/>
              </a:spcAft>
              <a:defRPr sz="1600">
                <a:solidFill>
                  <a:srgbClr val="C3CDDC"/>
                </a:solidFill>
                <a:latin typeface="Aptos"/>
              </a:defRPr>
            </a:pPr>
            <a:r>
              <a:t>3. Deterministic runtime? | ✅ Yes for multi-agent | ZipperGen — coordination structure enforced deterministically, independent of LLM nondeterminism…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1155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3F8EFC"/>
                </a:solidFill>
              </a:defRPr>
            </a:pPr>
            <a:r>
              <a:t>EvaPaper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3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F8E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5F7FA"/>
                </a:solidFill>
                <a:latin typeface="Aptos"/>
              </a:defRPr>
            </a:pPr>
            <a:r>
              <a:t>The Three Questions — Layer Mapping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143000"/>
            <a:ext cx="11155680" cy="5303520"/>
          </a:xfrm>
          <a:prstGeom prst="roundRect">
            <a:avLst/>
          </a:prstGeom>
          <a:solidFill>
            <a:srgbClr val="18243A"/>
          </a:solidFill>
          <a:ln>
            <a:solidFill>
              <a:srgbClr val="182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63040"/>
            <a:ext cx="10424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C3CDDC"/>
                </a:solidFill>
                <a:latin typeface="Aptos"/>
              </a:defRPr>
            </a:pPr>
            <a:r>
              <a:t>Question | Layer 0 (Spec) | Layer 1 (Runtime) | Layer 2 (Behavioral)</a:t>
            </a:r>
          </a:p>
          <a:p>
            <a:pPr>
              <a:spcAft>
                <a:spcPts val="1000"/>
              </a:spcAft>
              <a:defRPr sz="1600">
                <a:solidFill>
                  <a:srgbClr val="C3CDDC"/>
                </a:solidFill>
                <a:latin typeface="Aptos"/>
              </a:defRPr>
            </a:pPr>
            <a:r>
              <a:t>Q1: Do skills affect behavior? | BIV, SSL, GovernSpec (empirical evidence) | ClawHavoc (incident data) | —</a:t>
            </a:r>
          </a:p>
          <a:p>
            <a:pPr>
              <a:spcAft>
                <a:spcPts val="1000"/>
              </a:spcAft>
              <a:defRPr sz="1600">
                <a:solidFill>
                  <a:srgbClr val="C3CDDC"/>
                </a:solidFill>
                <a:latin typeface="Aptos"/>
              </a:defRPr>
            </a:pPr>
            <a:r>
              <a:t>Q2: Static type checking? | ZipperGen (global specs), SkillFortify (code analysis), GovernSpec (contracts) | — | —</a:t>
            </a:r>
          </a:p>
          <a:p>
            <a:pPr>
              <a:spcAft>
                <a:spcPts val="1000"/>
              </a:spcAft>
              <a:defRPr sz="1600">
                <a:solidFill>
                  <a:srgbClr val="C3CDDC"/>
                </a:solidFill>
                <a:latin typeface="Aptos"/>
              </a:defRPr>
            </a:pPr>
            <a:r>
              <a:t>Q3: Deterministic runtime? | ZipperGen (projection) | ZipperGen (local programs), ACP (admission control), ABC (contracts) | AgentVerify (hybrid), Tr…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1155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3F8EFC"/>
                </a:solidFill>
              </a:defRPr>
            </a:pPr>
            <a:r>
              <a:t>EvaPaper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3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F8E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5F7FA"/>
                </a:solidFill>
                <a:latin typeface="Aptos"/>
              </a:defRPr>
            </a:pPr>
            <a:r>
              <a:t>The MPST Opportunity — REVISED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143000"/>
            <a:ext cx="11155680" cy="5303520"/>
          </a:xfrm>
          <a:prstGeom prst="roundRect">
            <a:avLst/>
          </a:prstGeom>
          <a:solidFill>
            <a:srgbClr val="18243A"/>
          </a:solidFill>
          <a:ln>
            <a:solidFill>
              <a:srgbClr val="182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63040"/>
            <a:ext cx="10424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C3CDDC"/>
                </a:solidFill>
                <a:latin typeface="Aptos"/>
              </a:defRPr>
            </a:pPr>
            <a:r>
              <a:t>The MPST gap is now partially closed by ZipperGen. Here is what exists and what remains:</a:t>
            </a:r>
          </a:p>
          <a:p>
            <a:pPr>
              <a:spcAft>
                <a:spcPts val="1000"/>
              </a:spcAft>
              <a:defRPr sz="1600">
                <a:solidFill>
                  <a:srgbClr val="C3CDDC"/>
                </a:solidFill>
                <a:latin typeface="Aptos"/>
              </a:defRPr>
            </a:pPr>
            <a:r>
              <a:t>What ZipperGen provides (2026):</a:t>
            </a:r>
          </a:p>
          <a:p>
            <a:pPr>
              <a:spcAft>
                <a:spcPts val="1000"/>
              </a:spcAft>
              <a:defRPr sz="1600">
                <a:solidFill>
                  <a:srgbClr val="C3CDDC"/>
                </a:solidFill>
                <a:latin typeface="Aptos"/>
              </a:defRPr>
            </a:pPr>
            <a:r>
              <a:t>✅ Formal global specifications for multi-agent coordination (MSC-based DSL)</a:t>
            </a:r>
          </a:p>
          <a:p>
            <a:pPr>
              <a:spcAft>
                <a:spcPts val="1000"/>
              </a:spcAft>
              <a:defRPr sz="1600">
                <a:solidFill>
                  <a:srgbClr val="C3CDDC"/>
                </a:solidFill>
                <a:latin typeface="Aptos"/>
              </a:defRPr>
            </a:pPr>
            <a:r>
              <a:t>✅ Static well-typedness checking before runtime (payload matching, type correctness, control condition consistency)</a:t>
            </a:r>
          </a:p>
          <a:p>
            <a:pPr>
              <a:spcAft>
                <a:spcPts val="1000"/>
              </a:spcAft>
              <a:defRPr sz="1600">
                <a:solidFill>
                  <a:srgbClr val="C3CDDC"/>
                </a:solidFill>
                <a:latin typeface="Aptos"/>
              </a:defRPr>
            </a:pPr>
            <a:r>
              <a:t>✅ Deadlock-free by construction — guaranteed via syntax-directed projection, not runtime detection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1155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3F8EFC"/>
                </a:solidFill>
              </a:defRPr>
            </a:pPr>
            <a:r>
              <a:t>EvaPaper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3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ECF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5F7FA"/>
                </a:solidFill>
                <a:latin typeface="Aptos"/>
              </a:defRPr>
            </a:pPr>
            <a:r>
              <a:t>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3063240"/>
            <a:ext cx="7772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3CDDC"/>
                </a:solidFill>
                <a:latin typeface="Aptos"/>
              </a:defRPr>
            </a:pPr>
            <a:r>
              <a:t>Curated from the current markdown report</a:t>
            </a:r>
          </a:p>
        </p:txBody>
      </p:sp>
      <p:sp>
        <p:nvSpPr>
          <p:cNvPr id="6" name="Hexagon 5"/>
          <p:cNvSpPr/>
          <p:nvPr/>
        </p:nvSpPr>
        <p:spPr>
          <a:xfrm>
            <a:off x="9509760" y="1645920"/>
            <a:ext cx="1645920" cy="1645920"/>
          </a:xfrm>
          <a:prstGeom prst="hexagon">
            <a:avLst/>
          </a:prstGeom>
          <a:solidFill>
            <a:srgbClr val="3ECF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1155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3ECFB9"/>
                </a:solidFill>
              </a:defRPr>
            </a:pPr>
            <a:r>
              <a:t>Section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3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ECF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5F7FA"/>
                </a:solidFill>
                <a:latin typeface="Aptos"/>
              </a:defRPr>
            </a:pPr>
            <a:r>
              <a:t>What We Know (2026)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143000"/>
            <a:ext cx="11155680" cy="5303520"/>
          </a:xfrm>
          <a:prstGeom prst="roundRect">
            <a:avLst/>
          </a:prstGeom>
          <a:solidFill>
            <a:srgbClr val="18243A"/>
          </a:solidFill>
          <a:ln>
            <a:solidFill>
              <a:srgbClr val="182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63040"/>
            <a:ext cx="10424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C3CDDC"/>
                </a:solidFill>
                <a:latin typeface="Aptos"/>
              </a:defRPr>
            </a:pPr>
            <a:r>
              <a:t>Skills do affect behavior — empirically proven by BIV (80% deviation means agents are trying to follow instructions), SSL (94% structure extraction),…</a:t>
            </a:r>
          </a:p>
          <a:p>
            <a:pPr>
              <a:spcAft>
                <a:spcPts val="1000"/>
              </a:spcAft>
              <a:defRPr sz="1600">
                <a:solidFill>
                  <a:srgbClr val="C3CDDC"/>
                </a:solidFill>
                <a:latin typeface="Aptos"/>
              </a:defRPr>
            </a:pPr>
            <a:r>
              <a:t>Formal static checking exists for multi-agent coordination — ZipperGen provides deadlock-free-by-construction guarantees via syntax-directed projecti…</a:t>
            </a:r>
          </a:p>
          <a:p>
            <a:pPr>
              <a:spcAft>
                <a:spcPts val="1000"/>
              </a:spcAft>
              <a:defRPr sz="1600">
                <a:solidFill>
                  <a:srgbClr val="C3CDDC"/>
                </a:solidFill>
                <a:latin typeface="Aptos"/>
              </a:defRPr>
            </a:pPr>
            <a:r>
              <a:t>Deterministic runtime enforcement exists for both single-agent and multi-agent — ACP (sub-microsecond, TLA+ verified), ABC/AgentAssert (&lt;10ms, Drift…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1155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3ECFB9"/>
                </a:solidFill>
              </a:defRPr>
            </a:pPr>
            <a:r>
              <a:t>EvaPaper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3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ECF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5F7FA"/>
                </a:solidFill>
                <a:latin typeface="Aptos"/>
              </a:defRPr>
            </a:pPr>
            <a:r>
              <a:t>What We Don't Know (The Open Frontier)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143000"/>
            <a:ext cx="11155680" cy="5303520"/>
          </a:xfrm>
          <a:prstGeom prst="roundRect">
            <a:avLst/>
          </a:prstGeom>
          <a:solidFill>
            <a:srgbClr val="18243A"/>
          </a:solidFill>
          <a:ln>
            <a:solidFill>
              <a:srgbClr val="182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63040"/>
            <a:ext cx="10424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C3CDDC"/>
                </a:solidFill>
                <a:latin typeface="Aptos"/>
              </a:defRPr>
            </a:pPr>
            <a:r>
              <a:t>Behavioral typing of LLM action content — ZipperGen treats actions as opaque. No paper verifies what LLMs compute inside action blocks.</a:t>
            </a:r>
          </a:p>
          <a:p>
            <a:pPr>
              <a:spcAft>
                <a:spcPts val="1000"/>
              </a:spcAft>
              <a:defRPr sz="1600">
                <a:solidFill>
                  <a:srgbClr val="C3CDDC"/>
                </a:solidFill>
                <a:latin typeface="Aptos"/>
              </a:defRPr>
            </a:pPr>
            <a:r>
              <a:t>Skill-skill composition within a single agent — No static analysis of how multiple skills loaded by one agent interact.</a:t>
            </a:r>
          </a:p>
          <a:p>
            <a:pPr>
              <a:spcAft>
                <a:spcPts val="1000"/>
              </a:spcAft>
              <a:defRPr sz="1600">
                <a:solidFill>
                  <a:srgbClr val="C3CDDC"/>
                </a:solidFill>
                <a:latin typeface="Aptos"/>
              </a:defRPr>
            </a:pPr>
            <a:r>
              <a:t>Blame assignment in multi-agent violations — When something goes wrong, who is responsible? ZipperGen provides no mechanism.</a:t>
            </a:r>
          </a:p>
          <a:p>
            <a:pPr>
              <a:spcAft>
                <a:spcPts val="1000"/>
              </a:spcAft>
              <a:defRPr sz="1600">
                <a:solidFill>
                  <a:srgbClr val="C3CDDC"/>
                </a:solidFill>
                <a:latin typeface="Aptos"/>
              </a:defRPr>
            </a:pPr>
            <a:r>
              <a:t>Automatic rollback — ABC has Recovery (R) contracts for single-agent, but multi-agent rollback is unaddressed.</a:t>
            </a:r>
          </a:p>
          <a:p>
            <a:pPr>
              <a:spcAft>
                <a:spcPts val="1000"/>
              </a:spcAft>
              <a:defRPr sz="1600">
                <a:solidFill>
                  <a:srgbClr val="C3CDDC"/>
                </a:solidFill>
                <a:latin typeface="Aptos"/>
              </a:defRPr>
            </a:pPr>
            <a:r>
              <a:t>Formal guarantee that skill markdown alone determines behavior — Impossible without L3 runtime enforcement. LLM internals, context truncation, system…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1155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3ECFB9"/>
                </a:solidFill>
              </a:defRPr>
            </a:pPr>
            <a:r>
              <a:t>EvaPaper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3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ECF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5F7FA"/>
                </a:solidFill>
                <a:latin typeface="Aptos"/>
              </a:defRPr>
            </a:pPr>
            <a:r>
              <a:t>The Path Forward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143000"/>
            <a:ext cx="11155680" cy="5303520"/>
          </a:xfrm>
          <a:prstGeom prst="roundRect">
            <a:avLst/>
          </a:prstGeom>
          <a:solidFill>
            <a:srgbClr val="18243A"/>
          </a:solidFill>
          <a:ln>
            <a:solidFill>
              <a:srgbClr val="182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63040"/>
            <a:ext cx="10424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C3CDDC"/>
                </a:solidFill>
                <a:latin typeface="Aptos"/>
              </a:defRPr>
            </a:pPr>
            <a:r>
              <a:t>The user's intuition about MPST-style governance was prescient. ZipperGen (arXiv:2604.17612) proves that formal multi-agent coordination with guarant…</a:t>
            </a:r>
          </a:p>
          <a:p>
            <a:pPr>
              <a:spcAft>
                <a:spcPts val="1000"/>
              </a:spcAft>
              <a:defRPr sz="1600">
                <a:solidFill>
                  <a:srgbClr val="C3CDDC"/>
                </a:solidFill>
                <a:latin typeface="Aptos"/>
              </a:defRPr>
            </a:pPr>
            <a:r>
              <a:t>However, a critical practical gap remains that no formal-methods paper addresses: ZipperGen assumes you already have a formal global specification. B…</a:t>
            </a:r>
          </a:p>
          <a:p>
            <a:pPr>
              <a:spcAft>
                <a:spcPts val="1000"/>
              </a:spcAft>
              <a:defRPr sz="1600">
                <a:solidFill>
                  <a:srgbClr val="C3CDDC"/>
                </a:solidFill>
                <a:latin typeface="Aptos"/>
              </a:defRPr>
            </a:pPr>
            <a:r>
              <a:t>---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1155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3ECFB9"/>
                </a:solidFill>
              </a:defRPr>
            </a:pPr>
            <a:r>
              <a:t>EvaPaper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3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A66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5F7FA"/>
                </a:solidFill>
                <a:latin typeface="Aptos"/>
              </a:defRPr>
            </a:pPr>
            <a:r>
              <a:t>The SOP-to-Workflow Reality Gap: What ZipperGen (and All Formal MPST Papers) Cannot Handle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3063240"/>
            <a:ext cx="7772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3CDDC"/>
                </a:solidFill>
                <a:latin typeface="Aptos"/>
              </a:defRPr>
            </a:pPr>
            <a:r>
              <a:t>Curated from the current markdown report</a:t>
            </a:r>
          </a:p>
        </p:txBody>
      </p:sp>
      <p:sp>
        <p:nvSpPr>
          <p:cNvPr id="6" name="Hexagon 5"/>
          <p:cNvSpPr/>
          <p:nvPr/>
        </p:nvSpPr>
        <p:spPr>
          <a:xfrm>
            <a:off x="9509760" y="1645920"/>
            <a:ext cx="1645920" cy="1645920"/>
          </a:xfrm>
          <a:prstGeom prst="hexagon">
            <a:avLst/>
          </a:prstGeom>
          <a:solidFill>
            <a:srgbClr val="A66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1155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A66EFF"/>
                </a:solidFill>
              </a:defRPr>
            </a:pPr>
            <a:r>
              <a:t>Section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3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A66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5F7FA"/>
                </a:solidFill>
                <a:latin typeface="Aptos"/>
              </a:defRPr>
            </a:pPr>
            <a:r>
              <a:t>The Practical Workflow from Human SOP to Agentic Execution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143000"/>
            <a:ext cx="11155680" cy="5303520"/>
          </a:xfrm>
          <a:prstGeom prst="roundRect">
            <a:avLst/>
          </a:prstGeom>
          <a:solidFill>
            <a:srgbClr val="18243A"/>
          </a:solidFill>
          <a:ln>
            <a:solidFill>
              <a:srgbClr val="182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63040"/>
            <a:ext cx="10424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C3CDDC"/>
                </a:solidFill>
                <a:latin typeface="Aptos"/>
              </a:defRPr>
            </a:pPr>
            <a:r>
              <a:t>A recent practical methodology (widely circulated in enterprise AI training) demonstrates the real-world process of converting human Standard Operati…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1155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A66EFF"/>
                </a:solidFill>
              </a:defRPr>
            </a:pPr>
            <a:r>
              <a:t>EvaPaper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3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A66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5F7FA"/>
                </a:solidFill>
                <a:latin typeface="Aptos"/>
              </a:defRPr>
            </a:pPr>
            <a:r>
              <a:t>The Four-Step Conversion Process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143000"/>
            <a:ext cx="11155680" cy="5303520"/>
          </a:xfrm>
          <a:prstGeom prst="roundRect">
            <a:avLst/>
          </a:prstGeom>
          <a:solidFill>
            <a:srgbClr val="18243A"/>
          </a:solidFill>
          <a:ln>
            <a:solidFill>
              <a:srgbClr val="182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63040"/>
            <a:ext cx="10424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C3CDDC"/>
                </a:solidFill>
                <a:latin typeface="Aptos"/>
              </a:defRPr>
            </a:pPr>
            <a:r>
              <a:t>Step | Description | What Can Go Wrong | Formal Methods Gap</a:t>
            </a:r>
          </a:p>
          <a:p>
            <a:pPr>
              <a:spcAft>
                <a:spcPts val="1000"/>
              </a:spcAft>
              <a:defRPr sz="1600">
                <a:solidFill>
                  <a:srgbClr val="C3CDDC"/>
                </a:solidFill>
                <a:latin typeface="Aptos"/>
              </a:defRPr>
            </a:pPr>
            <a:r>
              <a:t>1. Format Standardization | Parameterize SOP (avoid fixed values), apply MUST/SHOULD/MAY rules (RFC 2119), structure with Markdown for machine parsea…</a:t>
            </a:r>
          </a:p>
          <a:p>
            <a:pPr>
              <a:spcAft>
                <a:spcPts val="1000"/>
              </a:spcAft>
              <a:defRPr sz="1600">
                <a:solidFill>
                  <a:srgbClr val="C3CDDC"/>
                </a:solidFill>
                <a:latin typeface="Aptos"/>
              </a:defRPr>
            </a:pPr>
            <a:r>
              <a:t>2. Task Decomposition | Split into independent pipeline steps with explicit inputs, outputs, and success criteria; connect via structured artifacts (…</a:t>
            </a:r>
          </a:p>
          <a:p>
            <a:pPr>
              <a:spcAft>
                <a:spcPts val="1000"/>
              </a:spcAft>
              <a:defRPr sz="1600">
                <a:solidFill>
                  <a:srgbClr val="C3CDDC"/>
                </a:solidFill>
                <a:latin typeface="Aptos"/>
              </a:defRPr>
            </a:pPr>
            <a:r>
              <a:t>3. Bidirectional Development | Deploy, observe failures (e.g., shrinking clothes from overheating), refine SOP with new rules (e.g., "no high-heat fo…</a:t>
            </a:r>
          </a:p>
          <a:p>
            <a:pPr>
              <a:spcAft>
                <a:spcPts val="1000"/>
              </a:spcAft>
              <a:defRPr sz="1600">
                <a:solidFill>
                  <a:srgbClr val="C3CDDC"/>
                </a:solidFill>
                <a:latin typeface="Aptos"/>
              </a:defRPr>
            </a:pPr>
            <a:r>
              <a:t>4. Integration &amp; Execution | Connect to real tools via MCP; add human-in-the-loop for high-risk decisions (e.g., finance &gt;$5,000) | Tool APIs change,…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1155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A66EFF"/>
                </a:solidFill>
              </a:defRPr>
            </a:pPr>
            <a:r>
              <a:t>EvaPaper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3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A66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5F7FA"/>
                </a:solidFill>
                <a:latin typeface="Aptos"/>
              </a:defRPr>
            </a:pPr>
            <a:r>
              <a:t>Why This Matters for Formal Governance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143000"/>
            <a:ext cx="11155680" cy="5303520"/>
          </a:xfrm>
          <a:prstGeom prst="roundRect">
            <a:avLst/>
          </a:prstGeom>
          <a:solidFill>
            <a:srgbClr val="18243A"/>
          </a:solidFill>
          <a:ln>
            <a:solidFill>
              <a:srgbClr val="182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63040"/>
            <a:ext cx="10424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C3CDDC"/>
                </a:solidFill>
                <a:latin typeface="Aptos"/>
              </a:defRPr>
            </a:pPr>
            <a:r>
              <a:t>ZipperGen's paper begins with: "We introduce a domain-specific language for specifying agent coordination..." The key word is specifying. The paper a…</a:t>
            </a:r>
          </a:p>
          <a:p>
            <a:pPr>
              <a:spcAft>
                <a:spcPts val="1000"/>
              </a:spcAft>
              <a:defRPr sz="1600">
                <a:solidFill>
                  <a:srgbClr val="C3CDDC"/>
                </a:solidFill>
                <a:latin typeface="Aptos"/>
              </a:defRPr>
            </a:pPr>
            <a:r>
              <a:t>Extracted all implicit knowledge from the human SOP</a:t>
            </a:r>
          </a:p>
          <a:p>
            <a:pPr>
              <a:spcAft>
                <a:spcPts val="1000"/>
              </a:spcAft>
              <a:defRPr sz="1600">
                <a:solidFill>
                  <a:srgbClr val="C3CDDC"/>
                </a:solidFill>
                <a:latin typeface="Aptos"/>
              </a:defRPr>
            </a:pPr>
            <a:r>
              <a:t>Parameterized all variables correctly</a:t>
            </a:r>
          </a:p>
          <a:p>
            <a:pPr>
              <a:spcAft>
                <a:spcPts val="1000"/>
              </a:spcAft>
              <a:defRPr sz="1600">
                <a:solidFill>
                  <a:srgbClr val="C3CDDC"/>
                </a:solidFill>
                <a:latin typeface="Aptos"/>
              </a:defRPr>
            </a:pPr>
            <a:r>
              <a:t>Decided the scope of each agent/skill</a:t>
            </a:r>
          </a:p>
          <a:p>
            <a:pPr>
              <a:spcAft>
                <a:spcPts val="1000"/>
              </a:spcAft>
              <a:defRPr sz="1600">
                <a:solidFill>
                  <a:srgbClr val="C3CDDC"/>
                </a:solidFill>
                <a:latin typeface="Aptos"/>
              </a:defRPr>
            </a:pPr>
            <a:r>
              <a:t>Identified all branch conditions and loop structures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1155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A66EFF"/>
                </a:solidFill>
              </a:defRPr>
            </a:pPr>
            <a:r>
              <a:t>EvaPaper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3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A66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5F7FA"/>
                </a:solidFill>
                <a:latin typeface="Aptos"/>
              </a:defRPr>
            </a:pPr>
            <a:r>
              <a:t>The New Research Gap: Specification Engineering for Agents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143000"/>
            <a:ext cx="11155680" cy="5303520"/>
          </a:xfrm>
          <a:prstGeom prst="roundRect">
            <a:avLst/>
          </a:prstGeom>
          <a:solidFill>
            <a:srgbClr val="18243A"/>
          </a:solidFill>
          <a:ln>
            <a:solidFill>
              <a:srgbClr val="182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63040"/>
            <a:ext cx="10424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C3CDDC"/>
                </a:solidFill>
                <a:latin typeface="Aptos"/>
              </a:defRPr>
            </a:pPr>
            <a:r>
              <a:t>This reveals a gap not captured in our three questions or the MPST discussion:</a:t>
            </a:r>
          </a:p>
          <a:p>
            <a:pPr>
              <a:spcAft>
                <a:spcPts val="1000"/>
              </a:spcAft>
              <a:defRPr sz="1600">
                <a:solidFill>
                  <a:srgbClr val="C3CDDC"/>
                </a:solidFill>
                <a:latin typeface="Aptos"/>
              </a:defRPr>
            </a:pPr>
            <a:r>
              <a:t>Gap | Description | Why Formal Methods Fail</a:t>
            </a:r>
          </a:p>
          <a:p>
            <a:pPr>
              <a:spcAft>
                <a:spcPts val="1000"/>
              </a:spcAft>
              <a:defRPr sz="1600">
                <a:solidFill>
                  <a:srgbClr val="C3CDDC"/>
                </a:solidFill>
                <a:latin typeface="Aptos"/>
              </a:defRPr>
            </a:pPr>
            <a:r>
              <a:t>Tacit knowledge extraction | Converting implicit human assumptions into explicit parameters | Formal methods require explicit specs; they cannot infe…</a:t>
            </a:r>
          </a:p>
          <a:p>
            <a:pPr>
              <a:spcAft>
                <a:spcPts val="1000"/>
              </a:spcAft>
              <a:defRPr sz="1600">
                <a:solidFill>
                  <a:srgbClr val="C3CDDC"/>
                </a:solidFill>
                <a:latin typeface="Aptos"/>
              </a:defRPr>
            </a:pPr>
            <a:r>
              <a:t>Scope boundary determination | Deciding what is a "skill" vs. "agent" vs. "workflow step" | ZipperGen assumes lifelines are already defined; it does…</a:t>
            </a:r>
          </a:p>
          <a:p>
            <a:pPr>
              <a:spcAft>
                <a:spcPts val="1000"/>
              </a:spcAft>
              <a:defRPr sz="1600">
                <a:solidFill>
                  <a:srgbClr val="C3CDDC"/>
                </a:solidFill>
                <a:latin typeface="Aptos"/>
              </a:defRPr>
            </a:pPr>
            <a:r>
              <a:t>Iterative SOP refinement | Learning from real-world failures to update the spec | Formal specs are static; they do not incorporate runtime feedback i…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1155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A66EFF"/>
                </a:solidFill>
              </a:defRPr>
            </a:pPr>
            <a:r>
              <a:t>EvaPaper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3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B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5F7FA"/>
                </a:solidFill>
                <a:latin typeface="Aptos"/>
              </a:defRPr>
            </a:pPr>
            <a:r>
              <a:t>Appendix B: Full Source Transcript — Agentic Workflow Methodology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3063240"/>
            <a:ext cx="7772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3CDDC"/>
                </a:solidFill>
                <a:latin typeface="Aptos"/>
              </a:defRPr>
            </a:pPr>
            <a:r>
              <a:t>Curated from the current markdown report</a:t>
            </a:r>
          </a:p>
        </p:txBody>
      </p:sp>
      <p:sp>
        <p:nvSpPr>
          <p:cNvPr id="6" name="Hexagon 5"/>
          <p:cNvSpPr/>
          <p:nvPr/>
        </p:nvSpPr>
        <p:spPr>
          <a:xfrm>
            <a:off x="9509760" y="1645920"/>
            <a:ext cx="1645920" cy="1645920"/>
          </a:xfrm>
          <a:prstGeom prst="hexagon">
            <a:avLst/>
          </a:prstGeom>
          <a:solidFill>
            <a:srgbClr val="FFB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1155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FFB347"/>
                </a:solidFill>
              </a:defRPr>
            </a:pPr>
            <a:r>
              <a:t>Section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3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B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5F7FA"/>
                </a:solidFill>
                <a:latin typeface="Aptos"/>
              </a:defRPr>
            </a:pPr>
            <a:r>
              <a:t>Key Terms Defined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143000"/>
            <a:ext cx="11155680" cy="5303520"/>
          </a:xfrm>
          <a:prstGeom prst="roundRect">
            <a:avLst/>
          </a:prstGeom>
          <a:solidFill>
            <a:srgbClr val="18243A"/>
          </a:solidFill>
          <a:ln>
            <a:solidFill>
              <a:srgbClr val="182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63040"/>
            <a:ext cx="10424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C3CDDC"/>
                </a:solidFill>
                <a:latin typeface="Aptos"/>
              </a:defRPr>
            </a:pPr>
            <a:r>
              <a:t>Term | Definition | Function</a:t>
            </a:r>
          </a:p>
          <a:p>
            <a:pPr>
              <a:spcAft>
                <a:spcPts val="1000"/>
              </a:spcAft>
              <a:defRPr sz="1600">
                <a:solidFill>
                  <a:srgbClr val="C3CDDC"/>
                </a:solidFill>
                <a:latin typeface="Aptos"/>
              </a:defRPr>
            </a:pPr>
            <a:r>
              <a:t>Human SOP | Traditional unstructured process document for humans, rich in implicit context | Guides humans, difficult for AI agents</a:t>
            </a:r>
          </a:p>
          <a:p>
            <a:pPr>
              <a:spcAft>
                <a:spcPts val="1000"/>
              </a:spcAft>
              <a:defRPr sz="1600">
                <a:solidFill>
                  <a:srgbClr val="C3CDDC"/>
                </a:solidFill>
                <a:latin typeface="Aptos"/>
              </a:defRPr>
            </a:pPr>
            <a:r>
              <a:t>Skill | Encapsulated methodology with SOP, references, and scripts for a single task | Executed by agents</a:t>
            </a:r>
          </a:p>
          <a:p>
            <a:pPr>
              <a:spcAft>
                <a:spcPts val="1000"/>
              </a:spcAft>
              <a:defRPr sz="1600">
                <a:solidFill>
                  <a:srgbClr val="C3CDDC"/>
                </a:solidFill>
                <a:latin typeface="Aptos"/>
              </a:defRPr>
            </a:pPr>
            <a:r>
              <a:t>Agentic Workflow | Workflow connecting multiple agents, skills, tools, and data sources into an autonomous pipeline | Produces end-to-end automation</a:t>
            </a:r>
          </a:p>
          <a:p>
            <a:pPr>
              <a:spcAft>
                <a:spcPts val="1000"/>
              </a:spcAft>
              <a:defRPr sz="1600">
                <a:solidFill>
                  <a:srgbClr val="C3CDDC"/>
                </a:solidFill>
                <a:latin typeface="Aptos"/>
              </a:defRPr>
            </a:pPr>
            <a:r>
              <a:t>Task Decomposition | Breaking tasks into small, modular, independent subtasks with clear inputs/outputs and success criteria | Enables debugging and…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1155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FFB347"/>
                </a:solidFill>
              </a:defRPr>
            </a:pPr>
            <a:r>
              <a:t>EvaPaper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3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B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5F7FA"/>
                </a:solidFill>
                <a:latin typeface="Aptos"/>
              </a:defRPr>
            </a:pPr>
            <a:r>
              <a:t>Summary of the Four-Step Agentic Workflow Conversion Methodology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143000"/>
            <a:ext cx="11155680" cy="5303520"/>
          </a:xfrm>
          <a:prstGeom prst="roundRect">
            <a:avLst/>
          </a:prstGeom>
          <a:solidFill>
            <a:srgbClr val="18243A"/>
          </a:solidFill>
          <a:ln>
            <a:solidFill>
              <a:srgbClr val="182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63040"/>
            <a:ext cx="10424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C3CDDC"/>
                </a:solidFill>
                <a:latin typeface="Aptos"/>
              </a:defRPr>
            </a:pPr>
            <a:r>
              <a:t>Step | Description | Purpose</a:t>
            </a:r>
          </a:p>
          <a:p>
            <a:pPr>
              <a:spcAft>
                <a:spcPts val="1000"/>
              </a:spcAft>
              <a:defRPr sz="1600">
                <a:solidFill>
                  <a:srgbClr val="C3CDDC"/>
                </a:solidFill>
                <a:latin typeface="Aptos"/>
              </a:defRPr>
            </a:pPr>
            <a:r>
              <a:t>1. Format Standardization | Parameterise SOP, use MUST/SHOULD/MAY, structure with Markdown | Make SOP machine-readable and reusable</a:t>
            </a:r>
          </a:p>
          <a:p>
            <a:pPr>
              <a:spcAft>
                <a:spcPts val="1000"/>
              </a:spcAft>
              <a:defRPr sz="1600">
                <a:solidFill>
                  <a:srgbClr val="C3CDDC"/>
                </a:solidFill>
                <a:latin typeface="Aptos"/>
              </a:defRPr>
            </a:pPr>
            <a:r>
              <a:t>2. Task Decomposition | Split task into clear, independent pipeline steps connected by structured output artifacts | Modularise workflow for observab…</a:t>
            </a:r>
          </a:p>
          <a:p>
            <a:pPr>
              <a:spcAft>
                <a:spcPts val="1000"/>
              </a:spcAft>
              <a:defRPr sz="1600">
                <a:solidFill>
                  <a:srgbClr val="C3CDDC"/>
                </a:solidFill>
                <a:latin typeface="Aptos"/>
              </a:defRPr>
            </a:pPr>
            <a:r>
              <a:t>3. Bidirectional Development | Iterate on SOP by testing, identifying errors related to tacit knowledge, refining accordingly | Build SOP robustness…</a:t>
            </a:r>
          </a:p>
          <a:p>
            <a:pPr>
              <a:spcAft>
                <a:spcPts val="1000"/>
              </a:spcAft>
              <a:defRPr sz="1600">
                <a:solidFill>
                  <a:srgbClr val="C3CDDC"/>
                </a:solidFill>
                <a:latin typeface="Aptos"/>
              </a:defRPr>
            </a:pPr>
            <a:r>
              <a:t>4. Integration &amp; Execution | Connect workflow to real tools and environment via MCP; add human-in-the-loop decision checkpoints | Enable production-r…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1155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FFB347"/>
                </a:solidFill>
              </a:defRPr>
            </a:pPr>
            <a:r>
              <a:t>EvaPaper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3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B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5F7FA"/>
                </a:solidFill>
                <a:latin typeface="Aptos"/>
              </a:defRPr>
            </a:pPr>
            <a:r>
              <a:t>Core Insights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143000"/>
            <a:ext cx="11155680" cy="5303520"/>
          </a:xfrm>
          <a:prstGeom prst="roundRect">
            <a:avLst/>
          </a:prstGeom>
          <a:solidFill>
            <a:srgbClr val="18243A"/>
          </a:solidFill>
          <a:ln>
            <a:solidFill>
              <a:srgbClr val="1824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63040"/>
            <a:ext cx="10424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C3CDDC"/>
                </a:solidFill>
                <a:latin typeface="Aptos"/>
              </a:defRPr>
            </a:pPr>
            <a:r>
              <a:t>Powerful AI models alone do not guarantee reliable automation—explicit task design and decomposition are crucial.</a:t>
            </a:r>
          </a:p>
          <a:p>
            <a:pPr>
              <a:spcAft>
                <a:spcPts val="1000"/>
              </a:spcAft>
              <a:defRPr sz="1600">
                <a:solidFill>
                  <a:srgbClr val="C3CDDC"/>
                </a:solidFill>
                <a:latin typeface="Aptos"/>
              </a:defRPr>
            </a:pPr>
            <a:r>
              <a:t>Human SOPs depend heavily on implicit context; without translating them into parameterised, structured workflows, agents cannot execute them effectiv…</a:t>
            </a:r>
          </a:p>
          <a:p>
            <a:pPr>
              <a:spcAft>
                <a:spcPts val="1000"/>
              </a:spcAft>
              <a:defRPr sz="1600">
                <a:solidFill>
                  <a:srgbClr val="C3CDDC"/>
                </a:solidFill>
                <a:latin typeface="Aptos"/>
              </a:defRPr>
            </a:pPr>
            <a:r>
              <a:t>Divide and conquer principle dramatically improves maintainability, observability, and debugging.</a:t>
            </a:r>
          </a:p>
          <a:p>
            <a:pPr>
              <a:spcAft>
                <a:spcPts val="1000"/>
              </a:spcAft>
              <a:defRPr sz="1600">
                <a:solidFill>
                  <a:srgbClr val="C3CDDC"/>
                </a:solidFill>
                <a:latin typeface="Aptos"/>
              </a:defRPr>
            </a:pPr>
            <a:r>
              <a:t>Iterative collaboration between developers and agents exposes tacit knowledge gaps, enabling continuous improvement.</a:t>
            </a:r>
          </a:p>
          <a:p>
            <a:pPr>
              <a:spcAft>
                <a:spcPts val="1000"/>
              </a:spcAft>
              <a:defRPr sz="1600">
                <a:solidFill>
                  <a:srgbClr val="C3CDDC"/>
                </a:solidFill>
                <a:latin typeface="Aptos"/>
              </a:defRPr>
            </a:pPr>
            <a:r>
              <a:t>Open standards like MCP are critical to integrating agents with heterogeneous corporate tools and supporting multi-agent ecosystems.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1155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FFB347"/>
                </a:solidFill>
              </a:defRPr>
            </a:pPr>
            <a:r>
              <a:t>EvaPaper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