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Governance Research Summary: Three Critical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Compiled by EvaPaper | June 6, 2026 Based on 29 papers across the Three-Layer Governance Stack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 1: Do Skills / Agents Markdown Actually Affect Agent Behavior?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Short Answer: Yes, but not deterministically.</a:t>
            </a:r>
          </a:p>
          <a:p>
            <a:pPr lvl="0" indent="0" marL="0">
              <a:buNone/>
            </a:pPr>
            <a:r>
              <a:rPr/>
              <a:t>The evidence across multiple papers shows that skill markdown (natural language instructions in skill files) </a:t>
            </a:r>
            <a:r>
              <a:rPr b="1"/>
              <a:t>does materially influence</a:t>
            </a:r>
            <a:r>
              <a:rPr/>
              <a:t> agent behavior, but this influence is </a:t>
            </a:r>
            <a:r>
              <a:rPr b="1"/>
              <a:t>probabilistic, not guaranteed</a:t>
            </a:r>
            <a:r>
              <a:rPr/>
              <a:t>. No paper proves formal behavioral mandate — what exists is empirical demonstration of influence.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Papers That Demonstrate Skill Markdown Affects Behavior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BIV — Behavioral Integrity Verification (arXiv:2605.11770, Layer 0)</a:t>
            </a:r>
          </a:p>
          <a:p>
            <a:pPr lvl="0"/>
            <a:r>
              <a:rPr b="1"/>
              <a:t>Key claim:</a:t>
            </a:r>
            <a:r>
              <a:rPr/>
              <a:t> </a:t>
            </a:r>
            <a:r>
              <a:rPr i="1"/>
              <a:t>“A fragment of natural-language text in a metadata file can override the agent’s decision loop as effectively as code”</a:t>
            </a:r>
          </a:p>
          <a:p>
            <a:pPr lvl="0"/>
            <a:r>
              <a:rPr b="1"/>
              <a:t>Evidence:</a:t>
            </a:r>
            <a:r>
              <a:rPr/>
              <a:t> 80% of skills deviate from declared behavior — implying the declared behavior (in markdown) is what agents </a:t>
            </a:r>
            <a:r>
              <a:rPr i="1"/>
              <a:t>attempt</a:t>
            </a:r>
            <a:r>
              <a:rPr/>
              <a:t> to follow, but implementation diverges</a:t>
            </a:r>
          </a:p>
          <a:p>
            <a:pPr lvl="0"/>
            <a:r>
              <a:rPr b="1"/>
              <a:t>Level of proof:</a:t>
            </a:r>
            <a:r>
              <a:rPr/>
              <a:t> Empirical observation, not formal guarantee</a:t>
            </a:r>
          </a:p>
          <a:p>
            <a:pPr lvl="0"/>
            <a:r>
              <a:rPr b="1"/>
              <a:t>Mechanism:</a:t>
            </a:r>
            <a:r>
              <a:rPr/>
              <a:t> Skill instructions are injected into the model’s context window alongside system prompts and user messages</a:t>
            </a:r>
          </a:p>
          <a:p>
            <a:pPr lvl="0" indent="0" marL="0">
              <a:buNone/>
            </a:pPr>
            <a:r>
              <a:rPr b="1"/>
              <a:t>Three levels of influence demonstrated: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Suggestion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“Try to use Tool A”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Probabilistic (~60-80%)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 prompting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“ALWAYS use Tool A. NEVER use Tool B.”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bias (~85-95%)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machine with runtime guards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Guaranteed (100%)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BIV studies </a:t>
            </a:r>
            <a:r>
              <a:rPr b="1"/>
              <a:t>L1-L2</a:t>
            </a:r>
            <a:r>
              <a:rPr/>
              <a:t>. The 80% deviation rate actually </a:t>
            </a:r>
            <a:r>
              <a:rPr i="1"/>
              <a:t>proves</a:t>
            </a:r>
            <a:r>
              <a:rPr/>
              <a:t> agents are trying to follow instructions (otherwise deviation wouldn’t be measurable against declared intent).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SSL Representation (arXiv:2604.24026, Layer 0)</a:t>
            </a:r>
          </a:p>
          <a:p>
            <a:pPr lvl="0"/>
            <a:r>
              <a:rPr b="1"/>
              <a:t>Key finding:</a:t>
            </a:r>
            <a:r>
              <a:rPr/>
              <a:t> 94% of skill descriptions can be decomposed into structured (scheduling, structural, logical) representations</a:t>
            </a:r>
          </a:p>
          <a:p>
            <a:pPr lvl="0"/>
            <a:r>
              <a:rPr b="1"/>
              <a:t>Implication:</a:t>
            </a:r>
            <a:r>
              <a:rPr/>
              <a:t> If skill text were irrelevant, automatic decomposition wouldn’t correlate with behavior</a:t>
            </a:r>
          </a:p>
          <a:p>
            <a:pPr lvl="0"/>
            <a:r>
              <a:rPr b="1"/>
              <a:t>Proof type:</a:t>
            </a:r>
            <a:r>
              <a:rPr/>
              <a:t> Structural analysis showing skill text encodes executable intent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Comprehensive Survey on Agent Skills (arXiv:2605.07358, Cross-layer)</a:t>
            </a:r>
          </a:p>
          <a:p>
            <a:pPr lvl="0"/>
            <a:r>
              <a:rPr b="1"/>
              <a:t>Key finding:</a:t>
            </a:r>
            <a:r>
              <a:rPr/>
              <a:t> Skills are </a:t>
            </a:r>
            <a:r>
              <a:rPr i="1"/>
              <a:t>“reusable procedural artifacts that coordinate tools, memory, and runtime context under task-specific constraints”</a:t>
            </a:r>
          </a:p>
          <a:p>
            <a:pPr lvl="0"/>
            <a:r>
              <a:rPr b="1"/>
              <a:t>Evidence:</a:t>
            </a:r>
            <a:r>
              <a:rPr/>
              <a:t> OpenClaw and Claude Code treat skill instructions as operational constraints, not documentation</a:t>
            </a:r>
          </a:p>
          <a:p>
            <a:pPr lvl="0"/>
            <a:r>
              <a:rPr b="1"/>
              <a:t>Proof type:</a:t>
            </a:r>
            <a:r>
              <a:rPr/>
              <a:t> Architecture analysis of production systems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GovernSpec / Contractual Skills (arXiv:2605.22634, Layer 0)</a:t>
            </a:r>
          </a:p>
          <a:p>
            <a:pPr lvl="0"/>
            <a:r>
              <a:rPr b="1"/>
              <a:t>Key finding:</a:t>
            </a:r>
            <a:r>
              <a:rPr/>
              <a:t> 12 contract sections in skill specs define </a:t>
            </a:r>
            <a:r>
              <a:rPr i="1"/>
              <a:t>“obligations, permissions, and prohibitions”</a:t>
            </a:r>
            <a:r>
              <a:rPr/>
              <a:t> that agents evaluate against</a:t>
            </a:r>
          </a:p>
          <a:p>
            <a:pPr lvl="0"/>
            <a:r>
              <a:rPr b="1"/>
              <a:t>Evidence:</a:t>
            </a:r>
            <a:r>
              <a:rPr/>
              <a:t> Contracts are machine-parseable and checked at load time</a:t>
            </a:r>
          </a:p>
          <a:p>
            <a:pPr lvl="0"/>
            <a:r>
              <a:rPr b="1"/>
              <a:t>Proof type:</a:t>
            </a:r>
            <a:r>
              <a:rPr/>
              <a:t> Specification framework with enforcement semantics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ClawHavoc (arXiv:2605.xxxxx, Layer 1 — referenced in BIV)</a:t>
            </a:r>
          </a:p>
          <a:p>
            <a:pPr lvl="0"/>
            <a:r>
              <a:rPr b="1"/>
              <a:t>Key finding:</a:t>
            </a:r>
            <a:r>
              <a:rPr/>
              <a:t> 1,200+ malicious skills infiltrated the OpenClaw marketplace</a:t>
            </a:r>
          </a:p>
          <a:p>
            <a:pPr lvl="0"/>
            <a:r>
              <a:rPr b="1"/>
              <a:t>Implication:</a:t>
            </a:r>
            <a:r>
              <a:rPr/>
              <a:t> If skills didn’t affect behavior, malicious skills wouldn’t be a threat vector</a:t>
            </a:r>
          </a:p>
          <a:p>
            <a:pPr lvl="0"/>
            <a:r>
              <a:rPr b="1"/>
              <a:t>Proof type:</a:t>
            </a:r>
            <a:r>
              <a:rPr/>
              <a:t> Security incident data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No Paper Claims</a:t>
            </a:r>
          </a:p>
          <a:p>
            <a:pPr lvl="0" indent="0" marL="0">
              <a:buNone/>
            </a:pPr>
            <a:r>
              <a:rPr b="1"/>
              <a:t>No paper proves:</a:t>
            </a:r>
            <a:r>
              <a:rPr/>
              <a:t> - “Skill markdown completely determines agent behavior” — false, system prompts, context truncation, and model internals also matter - “Agents always follow skill instructions” — BIV’s 80% deviation rate disproves this - “Natural language instructions are formally binding” — this requires L3 runtime enforcement (see Question 3)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Verdict on Question 1</a:t>
            </a:r>
          </a:p>
          <a:p>
            <a:pPr lvl="0" indent="0" marL="1270000">
              <a:buNone/>
            </a:pPr>
            <a:r>
              <a:rPr sz="2000" b="1"/>
              <a:t>Skills markdown affects behavior at L1-L2 (probabilistic influence). No paper proves deterministic mandate without runtime enforcement (L3). The influence is real, material, and measurable — but not guaranteed.</a:t>
            </a:r>
          </a:p>
          <a:p>
            <a:pPr lvl="0" indent="0" marL="0">
              <a:buNone/>
            </a:pPr>
            <a:r>
              <a:rPr/>
              <a:t>If you need </a:t>
            </a:r>
            <a:r>
              <a:rPr b="1"/>
              <a:t>guaranteed</a:t>
            </a:r>
            <a:r>
              <a:rPr/>
              <a:t> behavior, you need: - </a:t>
            </a:r>
            <a:r>
              <a:rPr b="1"/>
              <a:t>Static:</a:t>
            </a:r>
            <a:r>
              <a:rPr/>
              <a:t> Formal specification + type checking (see Question 2) - </a:t>
            </a:r>
            <a:r>
              <a:rPr b="1"/>
              <a:t>Runtime:</a:t>
            </a:r>
            <a:r>
              <a:rPr/>
              <a:t> Deterministic enforcement (see Question 3)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 2: Formal Static Typing / Checking Before Runtime?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Short Answer: Yes — and ZipperGen (arXiv:2604.17612) is the breakthrough for multi-agent coordination.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Papers With Static Analysis / Pre-Runtime Verification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ZipperGen / Provable Coordination for LLM Agents via MSCs (arXiv:2604.17612, Cross-layer Layer 0+1) — Multi-Agent Coordination</a:t>
            </a:r>
          </a:p>
          <a:p>
            <a:pPr lvl="0"/>
            <a:r>
              <a:rPr b="1"/>
              <a:t>What it does:</a:t>
            </a:r>
            <a:r>
              <a:rPr/>
              <a:t> Domain-specific language (DSL) for specifying multi-agent coordination using Message Sequence Charts (MSCs). Syntax-directed projection generates deadlock-free local agent programs from global coordination specifications.</a:t>
            </a:r>
          </a:p>
          <a:p>
            <a:pPr lvl="0"/>
            <a:r>
              <a:rPr b="1"/>
              <a:t>Static analysis:</a:t>
            </a:r>
            <a:r>
              <a:rPr/>
              <a:t> Well-typedness checks (Definition 5) — payload matching, local type correctness, control condition well-typedness — all checked before any agent executes. The global workflow is a formal specification that is statically verified before projection.</a:t>
            </a:r>
          </a:p>
          <a:p>
            <a:pPr lvl="0"/>
            <a:r>
              <a:rPr b="1"/>
              <a:t>Formal guarantee:</a:t>
            </a:r>
            <a:r>
              <a:rPr/>
              <a:t> Deadlock-free by construction (Theorem in Section 5). The projection is a structural recursion with correctness proof by structural induction.</a:t>
            </a:r>
          </a:p>
          <a:p>
            <a:pPr lvl="0"/>
            <a:r>
              <a:rPr b="1"/>
              <a:t>Key insight:</a:t>
            </a:r>
            <a:r>
              <a:rPr/>
              <a:t> Separates deterministic message-passing structure (formally specified, statically verified) from stochastic LLM actions (opaque, unpredictable). The coordination structure is guaranteed correct regardless of LLM nondeterminism.</a:t>
            </a:r>
          </a:p>
          <a:p>
            <a:pPr lvl="0"/>
            <a:r>
              <a:rPr b="1"/>
              <a:t>Open source:</a:t>
            </a:r>
            <a:r>
              <a:rPr/>
              <a:t> ZipperGen — https://zippergen.io</a:t>
            </a:r>
          </a:p>
          <a:p>
            <a:pPr lvl="0"/>
            <a:r>
              <a:rPr b="1"/>
              <a:t>Gap:</a:t>
            </a:r>
            <a:r>
              <a:rPr/>
              <a:t> Only verifies coordination structure, not LLM action content. No behavioral type checking for the content of messages or actions.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SkillFortify (arXiv:2603.00195, Layer 0/1) — Most Advanced for Single-Agent Skills</a:t>
            </a:r>
          </a:p>
          <a:p>
            <a:pPr lvl="0"/>
            <a:r>
              <a:rPr b="1"/>
              <a:t>What it does:</a:t>
            </a:r>
            <a:r>
              <a:rPr/>
              <a:t> First formal analysis framework for skill supply chain security</a:t>
            </a:r>
          </a:p>
          <a:p>
            <a:pPr lvl="0"/>
            <a:r>
              <a:rPr b="1"/>
              <a:t>Static analysis:</a:t>
            </a:r>
            <a:r>
              <a:rPr/>
              <a:t> Sound static analysis via abstract interpretation</a:t>
            </a:r>
          </a:p>
          <a:p>
            <a:pPr lvl="0"/>
            <a:r>
              <a:rPr b="1"/>
              <a:t>Capability-based sandboxing:</a:t>
            </a:r>
            <a:r>
              <a:rPr/>
              <a:t> Confinement proof before deployment</a:t>
            </a:r>
          </a:p>
          <a:p>
            <a:pPr lvl="0"/>
            <a:r>
              <a:rPr b="1"/>
              <a:t>Results:</a:t>
            </a:r>
            <a:r>
              <a:rPr/>
              <a:t> F1=96.95%, 0% false positives on 540 skills</a:t>
            </a:r>
          </a:p>
          <a:p>
            <a:pPr lvl="0"/>
            <a:r>
              <a:rPr b="1"/>
              <a:t>Mechanism:</a:t>
            </a:r>
            <a:r>
              <a:rPr/>
              <a:t> Abstract interpretation builds a mathematical model of skill behavior; SAT-based resolution checks constraints</a:t>
            </a:r>
          </a:p>
          <a:p>
            <a:pPr lvl="0"/>
            <a:r>
              <a:rPr b="1"/>
              <a:t>Open source:</a:t>
            </a:r>
            <a:r>
              <a:rPr/>
              <a:t> </a:t>
            </a:r>
            <a:r>
              <a:rPr>
                <a:latin typeface="Courier"/>
              </a:rPr>
              <a:t>pip install skillfortify</a:t>
            </a:r>
            <a:r>
              <a:rPr/>
              <a:t> — https://github.com/varun369/skillfortify</a:t>
            </a:r>
          </a:p>
          <a:p>
            <a:pPr lvl="0"/>
            <a:r>
              <a:rPr b="1"/>
              <a:t>Gap:</a:t>
            </a:r>
            <a:r>
              <a:rPr/>
              <a:t> Analyzes code, not natural language skill descriptions;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SkCC / Skill Compilation (arXiv:2605.03353, Layer 1/2)</a:t>
            </a:r>
          </a:p>
          <a:p>
            <a:pPr lvl="0"/>
            <a:r>
              <a:rPr b="1"/>
              <a:t>What it does:</a:t>
            </a:r>
            <a:r>
              <a:rPr/>
              <a:t> Portable and secure skill compilation with strongly-typed intermediate representation (SkIR)</a:t>
            </a:r>
          </a:p>
          <a:p>
            <a:pPr lvl="0"/>
            <a:r>
              <a:rPr b="1"/>
              <a:t>Static typing:</a:t>
            </a:r>
            <a:r>
              <a:rPr/>
              <a:t> SkIR decouples skill semantics from framework-specific formatting</a:t>
            </a:r>
          </a:p>
          <a:p>
            <a:pPr lvl="0"/>
            <a:r>
              <a:rPr b="1"/>
              <a:t>Security:</a:t>
            </a:r>
            <a:r>
              <a:rPr/>
              <a:t> Static optimizer enforces security constraints before deployment</a:t>
            </a:r>
          </a:p>
          <a:p>
            <a:pPr lvl="0"/>
            <a:r>
              <a:rPr b="1"/>
              <a:t>Results:</a:t>
            </a:r>
            <a:r>
              <a:rPr/>
              <a:t> 94.8% proactive security trigger rate; reduces adaptation complexity from O(m×n) to O(m+n)</a:t>
            </a:r>
          </a:p>
          <a:p>
            <a:pPr lvl="0"/>
            <a:r>
              <a:rPr b="1"/>
              <a:t>Gap:</a:t>
            </a:r>
            <a:r>
              <a:rPr/>
              <a:t> Requires skills to be written in SkIR, not natural language markdown;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GovernSpec / Contractual Skills (arXiv:2605.22634, Layer 0)</a:t>
            </a:r>
          </a:p>
          <a:p>
            <a:pPr lvl="0"/>
            <a:r>
              <a:rPr b="1"/>
              <a:t>What it does:</a:t>
            </a:r>
            <a:r>
              <a:rPr/>
              <a:t> 12 contract sections (P, I, G, R — Preconditions, Invariants, Governance, Recovery)</a:t>
            </a:r>
          </a:p>
          <a:p>
            <a:pPr lvl="0"/>
            <a:r>
              <a:rPr b="1"/>
              <a:t>Static checking:</a:t>
            </a:r>
            <a:r>
              <a:rPr/>
              <a:t> Machine-parseable contracts checked at skill load time</a:t>
            </a:r>
          </a:p>
          <a:p>
            <a:pPr lvl="0"/>
            <a:r>
              <a:rPr b="1"/>
              <a:t>Gap:</a:t>
            </a:r>
            <a:r>
              <a:rPr/>
              <a:t> Contracts are natural language with structured sections, not formal logic; no type system;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SSL Representation (arXiv:2604.24026, Layer 0)</a:t>
            </a:r>
          </a:p>
          <a:p>
            <a:pPr lvl="0"/>
            <a:r>
              <a:rPr b="1"/>
              <a:t>What it does:</a:t>
            </a:r>
            <a:r>
              <a:rPr/>
              <a:t> Decomposes skill text into Scheduling-Structural-Logical representations</a:t>
            </a:r>
          </a:p>
          <a:p>
            <a:pPr lvl="0"/>
            <a:r>
              <a:rPr b="1"/>
              <a:t>Static checking:</a:t>
            </a:r>
            <a:r>
              <a:rPr/>
              <a:t> Structured representation enables automated verification, policy checking</a:t>
            </a:r>
          </a:p>
          <a:p>
            <a:pPr lvl="0"/>
            <a:r>
              <a:rPr b="1"/>
              <a:t>Gap:</a:t>
            </a:r>
            <a:r>
              <a:rPr/>
              <a:t> 87% accuracy vs expert annotations; not a formal type system;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AgentVerify (preprints.org, 2026, Layer 1/2)</a:t>
            </a:r>
          </a:p>
          <a:p>
            <a:pPr lvl="0"/>
            <a:r>
              <a:rPr b="1"/>
              <a:t>What it does:</a:t>
            </a:r>
            <a:r>
              <a:rPr/>
              <a:t> Compositional formal verification via LTL model checking</a:t>
            </a:r>
          </a:p>
          <a:p>
            <a:pPr lvl="0"/>
            <a:r>
              <a:rPr b="1"/>
              <a:t>Static checking:</a:t>
            </a:r>
            <a:r>
              <a:rPr/>
              <a:t> 23 temporal logic templates for memory integrity, tool call protocols, MCP/skill invocations</a:t>
            </a:r>
          </a:p>
          <a:p>
            <a:pPr lvl="0"/>
            <a:r>
              <a:rPr b="1"/>
              <a:t>Results:</a:t>
            </a:r>
            <a:r>
              <a:rPr/>
              <a:t> 86.67% verification accuracy</a:t>
            </a:r>
          </a:p>
          <a:p>
            <a:pPr lvl="0"/>
            <a:r>
              <a:rPr b="1"/>
              <a:t>Gap:</a:t>
            </a:r>
            <a:r>
              <a:rPr/>
              <a:t> Post-hoc analysis, not pre-runtime type checking; requires model checking expertise;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Skilldex (arXiv:2604.16911, Layer 0)</a:t>
            </a:r>
          </a:p>
          <a:p>
            <a:pPr lvl="0"/>
            <a:r>
              <a:rPr b="1"/>
              <a:t>What it does:</a:t>
            </a:r>
            <a:r>
              <a:rPr/>
              <a:t> Validation engine for skill packages</a:t>
            </a:r>
          </a:p>
          <a:p>
            <a:pPr lvl="0"/>
            <a:r>
              <a:rPr b="1"/>
              <a:t>Static checking:</a:t>
            </a:r>
            <a:r>
              <a:rPr/>
              <a:t> Schema validation, format checking, coherence analysis</a:t>
            </a:r>
          </a:p>
          <a:p>
            <a:pPr lvl="0"/>
            <a:r>
              <a:rPr b="1"/>
              <a:t>Results:</a:t>
            </a:r>
            <a:r>
              <a:rPr/>
              <a:t> 34% of community packages malformed</a:t>
            </a:r>
          </a:p>
          <a:p>
            <a:pPr lvl="0"/>
            <a:r>
              <a:rPr b="1"/>
              <a:t>Gap:</a:t>
            </a:r>
            <a:r>
              <a:rPr/>
              <a:t> Schema-level, not behavioral type checking;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MIGT / Machine Identity Governance (arXiv:2604.06148, Layer 1/3)</a:t>
            </a:r>
          </a:p>
          <a:p>
            <a:pPr lvl="0"/>
            <a:r>
              <a:rPr b="1"/>
              <a:t>What it does:</a:t>
            </a:r>
            <a:r>
              <a:rPr/>
              <a:t> Skill-level attestation as runtime admission control</a:t>
            </a:r>
          </a:p>
          <a:p>
            <a:pPr lvl="0"/>
            <a:r>
              <a:rPr b="1"/>
              <a:t>Static checking:</a:t>
            </a:r>
            <a:r>
              <a:rPr/>
              <a:t> Attestation binds skill to verified identity before execution</a:t>
            </a:r>
          </a:p>
          <a:p>
            <a:pPr lvl="0"/>
            <a:r>
              <a:rPr b="1"/>
              <a:t>Gap:</a:t>
            </a:r>
            <a:r>
              <a:rPr/>
              <a:t> Identity verification, not behavioral type checking; single-agent only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Missing (The Gap) — UPDATED with ZipperGen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Exists?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Formal type system for skill interfaces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SkCC has SkIR but it’s not a type system for natural language skills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Static behavioral type checking (single-agent)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SkillFortify does formal analysis of code; not for NL descriptions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Static behavioral type checking (multi-agent)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ZipperGen provides formal coordination structure checking, but not behavioral typing of message content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 compatibility checking (multi-agent)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— MSC-based DSL with syntax-directed projection and well-typedness checks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Pre-runtime deadlock detection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— deadlock-free by construction from global specs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Skill-skill interaction verification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static analysis of how multiple skills compose within a single agent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ZipperGen changes the picture:</a:t>
            </a:r>
            <a:r>
              <a:rPr/>
              <a:t> Before ZipperGen, the answer was “no formal static checking for multi-agent interactions.” Now there is a concrete implementation (ZipperGen) that provides formal global specifications + guaranteed deadlock-free local programs. The gap is no longer “does this exist?” but “how do we extend this to skill content verification and behavioral typing?”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Verdict on Question 2</a:t>
            </a:r>
          </a:p>
          <a:p>
            <a:pPr lvl="0" indent="0" marL="1270000">
              <a:buNone/>
            </a:pPr>
            <a:r>
              <a:rPr sz="2000" b="1"/>
              <a:t>ZipperGen is the breakthrough paper for multi-agent static coordination. It provides formal type checking (well-typedness), deadlock-free-by-construction guarantees, and syntax-directed projection — all before any agent runs. For single-agent skills, SkillFortify and SkCC provide formal static analysis. The remaining gap is behavioral typing of message content and automatic skill composition verification.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 3: Runtime Checking in a Deterministic Way (Not LLM-as-Judge)?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Short Answer: Yes — and ZipperGen is the only multi-agent approach that deterministically enforces coordination structure.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Papers With Deterministic Runtime Enforcement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ZipperGen / Provable Coordination for LLM Agents via MSCs (arXiv:2604.17612, Cross-layer Layer 0+1) — Multi-Agent Coordination — Breakthrough</a:t>
            </a:r>
          </a:p>
          <a:p>
            <a:pPr lvl="0"/>
            <a:r>
              <a:rPr b="1"/>
              <a:t>Deterministic:</a:t>
            </a:r>
            <a:r>
              <a:rPr/>
              <a:t> Yes — message-passing structure is formally specified and deterministically enforced; LLM actions remain opaque</a:t>
            </a:r>
          </a:p>
          <a:p>
            <a:pPr lvl="0"/>
            <a:r>
              <a:rPr b="1"/>
              <a:t>Mechanism:</a:t>
            </a:r>
            <a:r>
              <a:rPr/>
              <a:t> Domain-specific language (DSL) based on Message Sequence Charts (MSCs). Syntax-directed projection generates local agent programs from global coordination specifications. Owned control flow with explicit deciders. Control broadcasts ensure non-owner lifelines observe branch choices.</a:t>
            </a:r>
          </a:p>
          <a:p>
            <a:pPr lvl="0"/>
            <a:r>
              <a:rPr b="1"/>
              <a:t>Key innovation:</a:t>
            </a:r>
            <a:r>
              <a:rPr/>
              <a:t> The coordination structure (message passing, branch decisions, loops) is </a:t>
            </a:r>
            <a:r>
              <a:rPr b="1"/>
              <a:t>guaranteed correct by construction</a:t>
            </a:r>
            <a:r>
              <a:rPr/>
              <a:t> — deadlock-free, no message mismatches, no race conditions. The LLM actions inside the structure are opaque (unpredictable), but the </a:t>
            </a:r>
            <a:r>
              <a:rPr i="1"/>
              <a:t>structure around them</a:t>
            </a:r>
            <a:r>
              <a:rPr/>
              <a:t> is deterministic and formally verified.</a:t>
            </a:r>
          </a:p>
          <a:p>
            <a:pPr lvl="0"/>
            <a:r>
              <a:rPr b="1"/>
              <a:t>Runtime:</a:t>
            </a:r>
            <a:r>
              <a:rPr/>
              <a:t> The projected local programs are deterministic finite-state programs that agents execute. No LLM-as-judge for coordination decisions.</a:t>
            </a:r>
          </a:p>
          <a:p>
            <a:pPr lvl="0"/>
            <a:r>
              <a:rPr b="1"/>
              <a:t>Results:</a:t>
            </a:r>
            <a:r>
              <a:rPr/>
              <a:t> Deadlock-free by construction. Coordination properties established independently of LLM nondeterminism. Runtime planning extension: LLM dynamically generates coordination workflows with same structural guarantees.</a:t>
            </a:r>
          </a:p>
          <a:p>
            <a:pPr lvl="0"/>
            <a:r>
              <a:rPr b="1"/>
              <a:t>Open source:</a:t>
            </a:r>
            <a:r>
              <a:rPr/>
              <a:t> ZipperGen — https://zippergen.io</a:t>
            </a:r>
          </a:p>
          <a:p>
            <a:pPr lvl="0"/>
            <a:r>
              <a:rPr b="1"/>
              <a:t>Gap:</a:t>
            </a:r>
            <a:r>
              <a:rPr/>
              <a:t> Does not verify LLM action content (opaque by design). No runtime behavioral enforcement of what agents actually do inside action blocks.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ACP — Admission Control Protocol (arXiv:2603.18829, Layer 1) — Fastest Single-Agent + Formally Verified</a:t>
            </a:r>
          </a:p>
          <a:p>
            <a:pPr lvl="0"/>
            <a:r>
              <a:rPr b="1"/>
              <a:t>Deterministic:</a:t>
            </a:r>
            <a:r>
              <a:rPr/>
              <a:t> Yes — risk scoring is deterministic, not LLM-based</a:t>
            </a:r>
          </a:p>
          <a:p>
            <a:pPr lvl="0"/>
            <a:r>
              <a:rPr b="1"/>
              <a:t>Mechanism:</a:t>
            </a:r>
            <a:r>
              <a:rPr/>
              <a:t> Temporal admission control with static risk scoring + stateful signals (anomaly accumulation, cooldown) through LedgerQuerier</a:t>
            </a:r>
          </a:p>
          <a:p>
            <a:pPr lvl="0"/>
            <a:r>
              <a:rPr b="1"/>
              <a:t>Performance:</a:t>
            </a:r>
            <a:r>
              <a:rPr/>
              <a:t> 739-832 ns decision latency; 1,720,000 req/s throughput</a:t>
            </a:r>
          </a:p>
          <a:p>
            <a:pPr lvl="0"/>
            <a:r>
              <a:rPr b="1"/>
              <a:t>Verification:</a:t>
            </a:r>
            <a:r>
              <a:rPr/>
              <a:t> TLA+ verified across 4,294,930,695 states, 11 invariants + 4 temporal properties, 0 violations</a:t>
            </a:r>
          </a:p>
          <a:p>
            <a:pPr lvl="0"/>
            <a:r>
              <a:rPr b="1"/>
              <a:t>Key result:</a:t>
            </a:r>
            <a:r>
              <a:rPr/>
              <a:t> Stateless engines approve 100% of individually-valid requests in a 500-request attack chain; ACP limits autonomous execution to 0.4%</a:t>
            </a:r>
          </a:p>
          <a:p>
            <a:pPr lvl="0"/>
            <a:r>
              <a:rPr b="1"/>
              <a:t>Open source:</a:t>
            </a:r>
            <a:r>
              <a:rPr/>
              <a:t> Go reference implementation (23 packages, 138 conformance tests)</a:t>
            </a:r>
          </a:p>
          <a:p>
            <a:pPr lvl="0"/>
            <a:r>
              <a:rPr b="1"/>
              <a:t>Paper series:</a:t>
            </a:r>
            <a:r>
              <a:rPr/>
              <a:t> 1 of 6-paper Agent Governance Series (Marcelo Fernandez)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Agent Behavioral Contracts (ABC) (arXiv:2602.22302, Layer 1/2) — Most Comprehensive Single-Agent</a:t>
            </a:r>
          </a:p>
          <a:p>
            <a:pPr lvl="0"/>
            <a:r>
              <a:rPr b="1"/>
              <a:t>Deterministic:</a:t>
            </a:r>
            <a:r>
              <a:rPr/>
              <a:t> Yes — contracts are formal, not probabilistic</a:t>
            </a:r>
          </a:p>
          <a:p>
            <a:pPr lvl="0"/>
            <a:r>
              <a:rPr b="1"/>
              <a:t>Mechanism:</a:t>
            </a:r>
            <a:r>
              <a:rPr/>
              <a:t> Contract C = (P, I, G, R) — Preconditions, Invariants, Governance policies, Recovery</a:t>
            </a:r>
          </a:p>
          <a:p>
            <a:pPr lvl="0"/>
            <a:r>
              <a:rPr b="1"/>
              <a:t>Runtime:</a:t>
            </a:r>
            <a:r>
              <a:rPr/>
              <a:t> AgentAssert library enforces contracts with &lt;10 ms overhead per action</a:t>
            </a:r>
          </a:p>
          <a:p>
            <a:pPr lvl="0"/>
            <a:r>
              <a:rPr b="1"/>
              <a:t>Results:</a:t>
            </a:r>
            <a:r>
              <a:rPr/>
              <a:t> 88-100% hard constraint compliance; behavioral drift bounded to D* &lt; 0.27</a:t>
            </a:r>
          </a:p>
          <a:p>
            <a:pPr lvl="0"/>
            <a:r>
              <a:rPr b="1"/>
              <a:t>Verification:</a:t>
            </a:r>
            <a:r>
              <a:rPr/>
              <a:t> (p, delta, k)-satisfaction for probabilistic compliance; Drift Bounds Theorem</a:t>
            </a:r>
          </a:p>
          <a:p>
            <a:pPr lvl="0"/>
            <a:r>
              <a:rPr b="1"/>
              <a:t>Open source:</a:t>
            </a:r>
            <a:r>
              <a:rPr/>
              <a:t> AgentAssert runtime library (Qualixar suite)</a:t>
            </a:r>
          </a:p>
          <a:p>
            <a:pPr lvl="0"/>
            <a:r>
              <a:rPr b="1"/>
              <a:t>Gap:</a:t>
            </a:r>
            <a:r>
              <a:rPr/>
              <a:t> Contracts are probabilistically satisfied, not 100% deterministic;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Runtime Governance / Policies on Paths (arXiv:2603.16586, Layer 1) — Most Expressive Single-Agent</a:t>
            </a:r>
          </a:p>
          <a:p>
            <a:pPr lvl="0"/>
            <a:r>
              <a:rPr b="1"/>
              <a:t>Deterministic:</a:t>
            </a:r>
            <a:r>
              <a:rPr/>
              <a:t> Yes — policies are temporal predicates, not LLM-evaluated</a:t>
            </a:r>
          </a:p>
          <a:p>
            <a:pPr lvl="0"/>
            <a:r>
              <a:rPr b="1"/>
              <a:t>Mechanism:</a:t>
            </a:r>
            <a:r>
              <a:rPr/>
              <a:t> Path-based policies as functions on execution paths; policy compiler translates requirements to executable path monitors</a:t>
            </a:r>
          </a:p>
          <a:p>
            <a:pPr lvl="0"/>
            <a:r>
              <a:rPr b="1"/>
              <a:t>Complexity:</a:t>
            </a:r>
            <a:r>
              <a:rPr/>
              <a:t> Polynomial-time evaluation</a:t>
            </a:r>
          </a:p>
          <a:p>
            <a:pPr lvl="0"/>
            <a:r>
              <a:rPr b="1"/>
              <a:t>Expressiveness:</a:t>
            </a:r>
            <a:r>
              <a:rPr/>
              <a:t> Can encode separation of duties, data minimization, audit trails</a:t>
            </a:r>
          </a:p>
          <a:p>
            <a:pPr lvl="0"/>
            <a:r>
              <a:rPr b="1"/>
              <a:t>Gap:</a:t>
            </a:r>
            <a:r>
              <a:rPr/>
              <a:t> Proposed framework, not yet evaluated at scale;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AgentVerify (preprints.org, 2026, Layer 1/2)</a:t>
            </a:r>
          </a:p>
          <a:p>
            <a:pPr lvl="0"/>
            <a:r>
              <a:rPr b="1"/>
              <a:t>Deterministic:</a:t>
            </a:r>
            <a:r>
              <a:rPr/>
              <a:t> Hybrid — O(1) runtime monitor + post-hoc Kripke-structure analyser</a:t>
            </a:r>
          </a:p>
          <a:p>
            <a:pPr lvl="0"/>
            <a:r>
              <a:rPr b="1"/>
              <a:t>Mechanism:</a:t>
            </a:r>
            <a:r>
              <a:rPr/>
              <a:t> LTL model checking for memory integrity, tool call protocols, MCP/skill invocations, human-in-the-loop boundaries</a:t>
            </a:r>
          </a:p>
          <a:p>
            <a:pPr lvl="0"/>
            <a:r>
              <a:rPr b="1"/>
              <a:t>Results:</a:t>
            </a:r>
            <a:r>
              <a:rPr/>
              <a:t> 86.67% verification accuracy vs 46.67% runtime baseline</a:t>
            </a:r>
          </a:p>
          <a:p>
            <a:pPr lvl="0"/>
            <a:r>
              <a:rPr b="1"/>
              <a:t>Gap:</a:t>
            </a:r>
            <a:r>
              <a:rPr/>
              <a:t> Hybrid architecture, not purely deterministic runtime;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SentinelAgent (arXiv:2604.02767, Layer 1)</a:t>
            </a:r>
          </a:p>
          <a:p>
            <a:pPr lvl="0"/>
            <a:r>
              <a:rPr b="1"/>
              <a:t>Deterministic:</a:t>
            </a:r>
            <a:r>
              <a:rPr/>
              <a:t> Yes — Delegation Chain Calculus with 7 formal properties</a:t>
            </a:r>
          </a:p>
          <a:p>
            <a:pPr lvl="0"/>
            <a:r>
              <a:rPr b="1"/>
              <a:t>Mechanism:</a:t>
            </a:r>
            <a:r>
              <a:rPr/>
              <a:t> DCC (Delegation Chain Calculus) — authority narrowing, policy preservation, forensic reconstructibility, cascade containment, scope-action conformance, output schema conformance, intent preservation</a:t>
            </a:r>
          </a:p>
          <a:p>
            <a:pPr lvl="0"/>
            <a:r>
              <a:rPr b="1"/>
              <a:t>Verification:</a:t>
            </a:r>
            <a:r>
              <a:rPr/>
              <a:t> TLA+ verified across 2.7 million states</a:t>
            </a:r>
          </a:p>
          <a:p>
            <a:pPr lvl="0"/>
            <a:r>
              <a:rPr b="1"/>
              <a:t>Results:</a:t>
            </a:r>
            <a:r>
              <a:rPr/>
              <a:t> 100% TPR at 0% FPR on DelegationBench v4 (516 scenarios, 10 attack categories)</a:t>
            </a:r>
          </a:p>
          <a:p>
            <a:pPr lvl="0"/>
            <a:r>
              <a:rPr b="1"/>
              <a:t>Gap:</a:t>
            </a:r>
            <a:r>
              <a:rPr/>
              <a:t> Focused on delegation chains, not general skill execution;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Trace-Based Assurance Framework (arXiv:2603.18096, Layer 1/2)</a:t>
            </a:r>
          </a:p>
          <a:p>
            <a:pPr lvl="0"/>
            <a:r>
              <a:rPr b="1"/>
              <a:t>Deterministic:</a:t>
            </a:r>
            <a:r>
              <a:rPr/>
              <a:t> Yes — Message-Action Traces (MAT) with explicit contracts</a:t>
            </a:r>
          </a:p>
          <a:p>
            <a:pPr lvl="0"/>
            <a:r>
              <a:rPr b="1"/>
              <a:t>Mechanism:</a:t>
            </a:r>
            <a:r>
              <a:rPr/>
              <a:t> Machine-checkable verdicts, deterministic replay, structured fault injection</a:t>
            </a:r>
          </a:p>
          <a:p>
            <a:pPr lvl="0"/>
            <a:r>
              <a:rPr b="1"/>
              <a:t>Governance:</a:t>
            </a:r>
            <a:r>
              <a:rPr/>
              <a:t> Runtime component enforcing per-agent capability limits and action mediation (allow/rewrite/block)</a:t>
            </a:r>
          </a:p>
          <a:p>
            <a:pPr lvl="0"/>
            <a:r>
              <a:rPr b="1"/>
              <a:t>Gap:</a:t>
            </a:r>
            <a:r>
              <a:rPr/>
              <a:t> Complex to implement; requires trace instrumentation;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LGA / Layered Governance Architecture (arXiv:2603.07191, Layer 1)</a:t>
            </a:r>
          </a:p>
          <a:p>
            <a:pPr lvl="0"/>
            <a:r>
              <a:rPr b="1"/>
              <a:t>Deterministic:</a:t>
            </a:r>
            <a:r>
              <a:rPr/>
              <a:t> Yes — sandboxing, intent verification, zero-trust authorization, audit logging</a:t>
            </a:r>
          </a:p>
          <a:p>
            <a:pPr lvl="0"/>
            <a:r>
              <a:rPr b="1"/>
              <a:t>Mechanism:</a:t>
            </a:r>
            <a:r>
              <a:rPr/>
              <a:t> Four layers of runtime governance</a:t>
            </a:r>
          </a:p>
          <a:p>
            <a:pPr lvl="0"/>
            <a:r>
              <a:rPr b="1"/>
              <a:t>Results:</a:t>
            </a:r>
            <a:r>
              <a:rPr/>
              <a:t> 89% of attacks succeed against baseline guardrails — showing LGA’s enforcement is needed</a:t>
            </a:r>
          </a:p>
          <a:p>
            <a:pPr lvl="0"/>
            <a:r>
              <a:rPr b="1"/>
              <a:t>Gap:</a:t>
            </a:r>
            <a:r>
              <a:rPr/>
              <a:t> Architectural framework, not a specific implementation; single-agent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MCP-38 / Threat Taxonomy (arXiv:2603.18063, Layer 1)</a:t>
            </a:r>
          </a:p>
          <a:p>
            <a:pPr lvl="0"/>
            <a:r>
              <a:rPr b="1"/>
              <a:t>Deterministic:</a:t>
            </a:r>
            <a:r>
              <a:rPr/>
              <a:t> N/A — taxonomy paper, not enforcement</a:t>
            </a:r>
          </a:p>
          <a:p>
            <a:pPr lvl="0"/>
            <a:r>
              <a:rPr b="1"/>
              <a:t>Contribution:</a:t>
            </a:r>
            <a:r>
              <a:rPr/>
              <a:t> 38 threat categories mapped to STRIDE, OWASP LLM Top 10, OWASP Agentic Top 10</a:t>
            </a:r>
          </a:p>
          <a:p>
            <a:pPr lvl="0"/>
            <a:r>
              <a:rPr b="1"/>
              <a:t>Gap:</a:t>
            </a:r>
            <a:r>
              <a:rPr/>
              <a:t> No runtime enforcement mechanism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10. NIST IR 8596 (Dec 2025, Layer 1/2)</a:t>
            </a:r>
          </a:p>
          <a:p>
            <a:pPr lvl="0"/>
            <a:r>
              <a:rPr b="1"/>
              <a:t>Deterministic:</a:t>
            </a:r>
            <a:r>
              <a:rPr/>
              <a:t> Standards document, not implementation</a:t>
            </a:r>
          </a:p>
          <a:p>
            <a:pPr lvl="0"/>
            <a:r>
              <a:rPr b="1"/>
              <a:t>Gap:</a:t>
            </a:r>
            <a:r>
              <a:rPr/>
              <a:t> Framework only, no runtime enforcement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Comparison: Deterministic vs LLM-as-Judge Runtime Checking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Production Ready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Multi-agent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 (coordination structure)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Structural induction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Python impl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739-832 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TLA+ (4.2B states)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Go impl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ABC / AgentAssert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Mostly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Drift Bounds Theorem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Library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Runtime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Polynomial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Proposed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AgentVerify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O(1) monitor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LTL model checking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Research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SentinelAgent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TLA+ (2.7M states)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Research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Trace-Based Assurance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Replay-based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Complex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BeSafe-Bench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Benchmark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Benchmark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ST-WebAgentBench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Benchmark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Benchmark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Missing (The Gap) — UPDATED with ZipperGen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Exists?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Deterministic skill-level policy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ABC, ACP, Runtime Governance (single-agent)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Deterministic multi-agent coordination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— message structure guaranteed correct; action content remains opaque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Sub-microsecond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ACP (739-832 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Formally verified 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ACP (TLA+), SentinelAgent (TLA+), ZipperGen (structural induction)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MPST-style session type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— MSC-based DSL with syntax-directed projection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Behavioral typing of message 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ZipperGen checks structure, not what LLMs put inside messages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Deterministic skill composition verification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static analysis of how multiple skills compose within a single agent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Behavioral typing with blame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blame assignment when agents violate protocols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Real-time rollback on violation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ABC has Recovery (R) contracts; not automatic rollback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Verdict on Question 3</a:t>
            </a:r>
          </a:p>
          <a:p>
            <a:pPr lvl="0" indent="0" marL="1270000">
              <a:buNone/>
            </a:pPr>
            <a:r>
              <a:rPr sz="2000" b="1"/>
              <a:t>Deterministic runtime enforcement exists at both single-agent (ACP, ABC/AgentAssert) and multi-agent (ZipperGen) levels. ZipperGen is the breakthrough: it guarantees deadlock-free coordination regardless of LLM nondeterminism, by separating deterministic message structure (enforced) from stochastic actions (opaque). The remaining gap is not “does MPST exist for agents?” — it does — but “can we type-check the content of LLM actions within that structure?”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Overall Assessment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Three Questions — Comprehensive Synthesis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Existing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ZipperGen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Remains Open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 Do skills affect behavior?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Yes, empirically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BIV, SSL Survey, GovernSpec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ZipperGen does not directly address this, but its runtime planning extension shows LLMs can generate coordination structures that are formally guaranteed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Proving deterministic mandate from skill markdown alone — impossible without L3 enforcement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 Static type checking?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 for multi-agent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— formal well-typedness checks, deadlock-free by construction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Closes the MPST gap:</a:t>
                      </a:r>
                      <a:r>
                        <a:rPr/>
                        <a:t> formal global specs + deterministic local projection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Behavioral typing of LLM action content; skill-skill composition within single agent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 Deterministic runtime?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 for multi-agent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— coordination structure enforced deterministically, independent of LLM nondeterminism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Closes the multi-agent gap:</a:t>
                      </a:r>
                      <a:r>
                        <a:rPr/>
                        <a:t> the only paper that guarantees correct multi-agent coordination regardless of LLM stochasticity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Runtime enforcement of what LLMs do inside action blocks; blame assignment; automatic rollback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Three Questions — Layer Mapping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0 (Spec)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1 (Runtime)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2 (Behavioral)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Q1: Do skills affect behavior?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BIV, SSL, GovernSpec (empirical evidence)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ClawHavoc (incident data)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Q2: Static type checking?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(global specs), SkillFortify (code analysis), GovernSpec (contracts)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Q3: Deterministic runtime?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(projection)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ZipperGen</a:t>
                      </a:r>
                      <a:r>
                        <a:rPr/>
                        <a:t> (local programs), ACP (admission control), ABC (contracts)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AgentVerify (hybrid), Trace-Based (replay)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MPST Opportunity — REVISED</a:t>
            </a:r>
          </a:p>
          <a:p>
            <a:pPr lvl="0" indent="0" marL="0">
              <a:buNone/>
            </a:pPr>
            <a:r>
              <a:rPr b="1"/>
              <a:t>The MPST gap is now partially closed by ZipperGen.</a:t>
            </a:r>
            <a:r>
              <a:rPr/>
              <a:t> Here is what exists and what remains:</a:t>
            </a:r>
          </a:p>
          <a:p>
            <a:pPr lvl="0" indent="0" marL="0">
              <a:buNone/>
            </a:pPr>
            <a:r>
              <a:rPr b="1"/>
              <a:t>What ZipperGen provides (2026):</a:t>
            </a:r>
            <a:r>
              <a:rPr/>
              <a:t> - ✅ </a:t>
            </a:r>
            <a:r>
              <a:rPr b="1"/>
              <a:t>Formal global specifications</a:t>
            </a:r>
            <a:r>
              <a:rPr/>
              <a:t> for multi-agent coordination (MSC-based DSL) - ✅ </a:t>
            </a:r>
            <a:r>
              <a:rPr b="1"/>
              <a:t>Static well-typedness checking</a:t>
            </a:r>
            <a:r>
              <a:rPr/>
              <a:t> before runtime (payload matching, type correctness, control condition consistency) - ✅ </a:t>
            </a:r>
            <a:r>
              <a:rPr b="1"/>
              <a:t>Deadlock-free by construction</a:t>
            </a:r>
            <a:r>
              <a:rPr/>
              <a:t> — guaranteed via syntax-directed projection, not runtime detection - ✅ </a:t>
            </a:r>
            <a:r>
              <a:rPr b="1"/>
              <a:t>Runtime execution</a:t>
            </a:r>
            <a:r>
              <a:rPr/>
              <a:t> of projected local programs — deterministic finite-state programs, no LLM-as-judge for coordination - ✅ </a:t>
            </a:r>
            <a:r>
              <a:rPr b="1"/>
              <a:t>LLM runtime planning</a:t>
            </a:r>
            <a:r>
              <a:rPr/>
              <a:t> — an LLM can dynamically generate coordination workflows and the same guarantees apply - ✅ </a:t>
            </a:r>
            <a:r>
              <a:rPr b="1"/>
              <a:t>Open-source implementation</a:t>
            </a:r>
            <a:r>
              <a:rPr/>
              <a:t> — https://zippergen.io</a:t>
            </a:r>
          </a:p>
          <a:p>
            <a:pPr lvl="0" indent="0" marL="0">
              <a:buNone/>
            </a:pPr>
            <a:r>
              <a:rPr b="1"/>
              <a:t>What remains missing (the new frontier):</a:t>
            </a:r>
            <a:r>
              <a:rPr/>
              <a:t> - ❌ </a:t>
            </a:r>
            <a:r>
              <a:rPr b="1"/>
              <a:t>Behavioral typing of LLM actions</a:t>
            </a:r>
            <a:r>
              <a:rPr/>
              <a:t> — ZipperGen treats LLM actions as opaque blocks; it does not verify </a:t>
            </a:r>
            <a:r>
              <a:rPr i="1"/>
              <a:t>what</a:t>
            </a:r>
            <a:r>
              <a:rPr/>
              <a:t> the LLM computes inside them - ❌ </a:t>
            </a:r>
            <a:r>
              <a:rPr b="1"/>
              <a:t>Skill-skill composition within a single agent</a:t>
            </a:r>
            <a:r>
              <a:rPr/>
              <a:t> — ZipperGen verifies multi-agent coordination, not how skills compose within one agent - ❌ </a:t>
            </a:r>
            <a:r>
              <a:rPr b="1"/>
              <a:t>Blame assignment</a:t>
            </a:r>
            <a:r>
              <a:rPr/>
              <a:t> — When coordination fails, ZipperGen does not identify which agent (or which LLM action) is at fault - ❌ </a:t>
            </a:r>
            <a:r>
              <a:rPr b="1"/>
              <a:t>Runtime behavioral enforcement</a:t>
            </a:r>
            <a:r>
              <a:rPr/>
              <a:t> — ZipperGen enforces message structure, not behavior (e.g., “this agent must not send credit card numbers”) - ❌ </a:t>
            </a:r>
            <a:r>
              <a:rPr b="1"/>
              <a:t>Automatic rollback</a:t>
            </a:r>
            <a:r>
              <a:rPr/>
              <a:t> — No mechanism to revert multi-agent execution when a violation is detected</a:t>
            </a:r>
          </a:p>
          <a:p>
            <a:pPr lvl="0" indent="0" marL="0">
              <a:buNone/>
            </a:pPr>
            <a:r>
              <a:rPr b="1"/>
              <a:t>The research opportunity is now sharper:</a:t>
            </a:r>
          </a:p>
          <a:p>
            <a:pPr lvl="0" indent="0" marL="0">
              <a:buNone/>
            </a:pPr>
            <a:r>
              <a:rPr/>
              <a:t>Before ZipperGen: “Does MPST for LLM agents exist?” → No. After ZipperGen: “How do we add behavioral typing, blame, and rollback to the ZipperGen framework?”</a:t>
            </a:r>
          </a:p>
          <a:p>
            <a:pPr lvl="0" indent="0" marL="0">
              <a:buNone/>
            </a:pPr>
            <a:r>
              <a:rPr/>
              <a:t>Specifically: 1. </a:t>
            </a:r>
            <a:r>
              <a:rPr b="1"/>
              <a:t>Action-level contracts:</a:t>
            </a:r>
            <a:r>
              <a:rPr/>
              <a:t> Extend ZipperGen’s action blocks from opaque </a:t>
            </a:r>
            <a:r>
              <a:rPr>
                <a:latin typeface="Courier"/>
              </a:rPr>
              <a:t>act A: y = f(x)</a:t>
            </a:r>
            <a:r>
              <a:rPr/>
              <a:t> to contract-typed </a:t>
            </a:r>
            <a:r>
              <a:rPr>
                <a:latin typeface="Courier"/>
              </a:rPr>
              <a:t>act A: y = f(x) requires P ensures Q</a:t>
            </a:r>
            <a:r>
              <a:rPr/>
              <a:t> — where P/Q are pre/postconditions enforced by ABC/AgentAssert or ACP 2. </a:t>
            </a:r>
            <a:r>
              <a:rPr b="1"/>
              <a:t>Skill composition:</a:t>
            </a:r>
            <a:r>
              <a:rPr/>
              <a:t> Apply ZipperGen’s projection logic to intra-agent skill composition (e.g., when two skills loaded by the same agent interact via tool calls) 3. </a:t>
            </a:r>
            <a:r>
              <a:rPr b="1"/>
              <a:t>Blame and rollback:</a:t>
            </a:r>
            <a:r>
              <a:rPr/>
              <a:t> Add sentinel actions that monitor message payloads and trigger rollback protocols when violations are detected</a:t>
            </a:r>
          </a:p>
          <a:p>
            <a:pPr lvl="0" indent="0" marL="0">
              <a:buNone/>
            </a:pPr>
            <a:r>
              <a:rPr b="1"/>
              <a:t>The architecture of the future:</a:t>
            </a:r>
          </a:p>
          <a:p>
            <a:pPr lvl="0" indent="0">
              <a:buNone/>
            </a:pPr>
            <a:r>
              <a:rPr>
                <a:latin typeface="Courier"/>
              </a:rPr>
              <a:t>Global Specification (ZipperGen MSC)
    ↓ Syntax-directed projection
Local Agent Programs (deadlock-free by construction)
    ↓ Runtime execution
    ├─ Message passing (deterministic, guaranteed by ZipperGen)
    └─ Action blocks (opaque LLM calls)
         ↓ ABC/ACP enforcement inside each action
         Behavior contracts (pre/postconditions)
         Admission control (risk scoring)</a:t>
            </a:r>
          </a:p>
          <a:p>
            <a:pPr lvl="0" indent="0" marL="0">
              <a:buNone/>
            </a:pPr>
            <a:r>
              <a:rPr/>
              <a:t>ZipperGen is the </a:t>
            </a:r>
            <a:r>
              <a:rPr b="1"/>
              <a:t>coordination layer</a:t>
            </a:r>
            <a:r>
              <a:rPr/>
              <a:t>. ABC/ACP is the </a:t>
            </a:r>
            <a:r>
              <a:rPr b="1"/>
              <a:t>behavioral layer</a:t>
            </a:r>
            <a:r>
              <a:rPr/>
              <a:t>. Together they form the complete multi-agent governance stack.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Conclusion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Know (2026)</a:t>
            </a:r>
          </a:p>
          <a:p>
            <a:pPr lvl="0" indent="-342900" marL="342900">
              <a:buAutoNum type="arabicPeriod"/>
            </a:pPr>
            <a:r>
              <a:rPr b="1"/>
              <a:t>Skills do affect behavior</a:t>
            </a:r>
            <a:r>
              <a:rPr/>
              <a:t> — empirically proven by BIV (80% deviation means agents are trying to follow instructions), SSL (94% structure extraction), and ClawHavoc (1,200+ malicious skills show skills are a real threat vector). But this is probabilistic, not deterministic.</a:t>
            </a:r>
          </a:p>
          <a:p>
            <a:pPr lvl="0" indent="-342900" marL="342900">
              <a:buAutoNum type="arabicPeriod"/>
            </a:pPr>
            <a:r>
              <a:rPr b="1"/>
              <a:t>Formal static checking exists for multi-agent coordination</a:t>
            </a:r>
            <a:r>
              <a:rPr/>
              <a:t> — ZipperGen provides deadlock-free-by-construction guarantees via syntax-directed projection from MSC-based global specs. This closes the MPST gap for coordination structure.</a:t>
            </a:r>
          </a:p>
          <a:p>
            <a:pPr lvl="0" indent="-342900" marL="342900">
              <a:buAutoNum type="arabicPeriod"/>
            </a:pPr>
            <a:r>
              <a:rPr b="1"/>
              <a:t>Deterministic runtime enforcement exists for both single-agent and multi-agent</a:t>
            </a:r>
            <a:r>
              <a:rPr/>
              <a:t> — ACP (sub-microsecond, TLA+ verified), ABC/AgentAssert (&lt;10ms, Drift Bounds Theorem), and ZipperGen (structural induction proof) all provide deterministic enforcement without LLM-as-judge.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Don’t Know (The Open Frontier)</a:t>
            </a:r>
          </a:p>
          <a:p>
            <a:pPr lvl="0" indent="-342900" marL="342900">
              <a:buAutoNum type="arabicPeriod"/>
            </a:pPr>
            <a:r>
              <a:rPr b="1"/>
              <a:t>Behavioral typing of LLM action content</a:t>
            </a:r>
            <a:r>
              <a:rPr/>
              <a:t> — ZipperGen treats actions as opaque. No paper verifies </a:t>
            </a:r>
            <a:r>
              <a:rPr i="1"/>
              <a:t>what</a:t>
            </a:r>
            <a:r>
              <a:rPr/>
              <a:t> LLMs compute inside action blocks.</a:t>
            </a:r>
          </a:p>
          <a:p>
            <a:pPr lvl="0" indent="-342900" marL="342900">
              <a:buAutoNum type="arabicPeriod"/>
            </a:pPr>
            <a:r>
              <a:rPr b="1"/>
              <a:t>Skill-skill composition within a single agent</a:t>
            </a:r>
            <a:r>
              <a:rPr/>
              <a:t> — No static analysis of how multiple skills loaded by one agent interact.</a:t>
            </a:r>
          </a:p>
          <a:p>
            <a:pPr lvl="0" indent="-342900" marL="342900">
              <a:buAutoNum type="arabicPeriod"/>
            </a:pPr>
            <a:r>
              <a:rPr b="1"/>
              <a:t>Blame assignment in multi-agent violations</a:t>
            </a:r>
            <a:r>
              <a:rPr/>
              <a:t> — When something goes wrong, who is responsible? ZipperGen provides no mechanism.</a:t>
            </a:r>
          </a:p>
          <a:p>
            <a:pPr lvl="0" indent="-342900" marL="342900">
              <a:buAutoNum type="arabicPeriod"/>
            </a:pPr>
            <a:r>
              <a:rPr b="1"/>
              <a:t>Automatic rollback</a:t>
            </a:r>
            <a:r>
              <a:rPr/>
              <a:t> — ABC has Recovery (R) contracts for single-agent, but multi-agent rollback is unaddressed.</a:t>
            </a:r>
          </a:p>
          <a:p>
            <a:pPr lvl="0" indent="-342900" marL="342900">
              <a:buAutoNum type="arabicPeriod"/>
            </a:pPr>
            <a:r>
              <a:rPr b="1"/>
              <a:t>Formal guarantee that skill markdown alone determines behavior</a:t>
            </a:r>
            <a:r>
              <a:rPr/>
              <a:t> — Impossible without L3 runtime enforcement. LLM internals, context truncation, system prompts, and user messages all contribute.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Path Forward</a:t>
            </a:r>
          </a:p>
          <a:p>
            <a:pPr lvl="0" indent="0" marL="0">
              <a:buNone/>
            </a:pPr>
            <a:r>
              <a:rPr/>
              <a:t>The user’s intuition about MPST-style governance was prescient. ZipperGen (arXiv:2604.17612) proves that formal multi-agent coordination with guaranteed deadlock-freedom is not just theoretical — it is implementable, open-source, and compatible with LLM runtime planning. The next step is not to invent MPST for agents, but to </a:t>
            </a:r>
            <a:r>
              <a:rPr b="1"/>
              <a:t>extend ZipperGen with behavioral typing, blame assignment, and rollback mechanisms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research agenda should focus on: - </a:t>
            </a:r>
            <a:r>
              <a:rPr b="1"/>
              <a:t>Action-level contracts</a:t>
            </a:r>
            <a:r>
              <a:rPr/>
              <a:t> inside ZipperGen’s action blocks (integrating ABC/AgentAssert) - </a:t>
            </a:r>
            <a:r>
              <a:rPr b="1"/>
              <a:t>Skill composition analysis</a:t>
            </a:r>
            <a:r>
              <a:rPr/>
              <a:t> for single-agent multi-skill scenarios (applying ZipperGen’s projection logic to intra-agent interactions) - </a:t>
            </a:r>
            <a:r>
              <a:rPr b="1"/>
              <a:t>Blame and rollback</a:t>
            </a:r>
            <a:r>
              <a:rPr/>
              <a:t> as first-class primitives in the coordination DSL (extending ZipperGen’s owned control flow with violation handling)</a:t>
            </a:r>
          </a:p>
          <a:p>
            <a:pPr lvl="0" indent="0" marL="0">
              <a:buNone/>
            </a:pPr>
            <a:r>
              <a:rPr/>
              <a:t>The Three-Layer Governance Stack is not a wishlist — it is a near-term engineering roadmap. The papers are already being written. The tools are already being built. The gap is closing.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Compiled by EvaPaper | Based on 29 papers across the Three-Layer Governance Stack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2026-06-05T17:20:57Z</dcterms:created>
  <dcterms:modified xsi:type="dcterms:W3CDTF">2026-06-05T17:20:57Z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