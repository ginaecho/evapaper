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Governance Research Summary: Three Critical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Compiled by EvaPaper | June 6, 2026 Based on 28 papers across the Three-Layer Governance Stack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1: Do Skills / Agents Markdown Actually Affect Agent Behavior?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Yes, but not deterministically.</a:t>
            </a:r>
          </a:p>
          <a:p>
            <a:pPr lvl="0" indent="0" marL="0">
              <a:buNone/>
            </a:pPr>
            <a:r>
              <a:rPr/>
              <a:t>The evidence across multiple papers shows that skill markdown (natural language instructions in skill files) </a:t>
            </a:r>
            <a:r>
              <a:rPr b="1"/>
              <a:t>does materially influence</a:t>
            </a:r>
            <a:r>
              <a:rPr/>
              <a:t> agent behavior, but this influence is </a:t>
            </a:r>
            <a:r>
              <a:rPr b="1"/>
              <a:t>probabilistic, not guaranteed</a:t>
            </a:r>
            <a:r>
              <a:rPr/>
              <a:t>. No paper proves formal behavioral mandate — what exists is empirical demonstration of influence.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That Demonstrate Skill Markdown Affects Behavior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BIV — Behavioral Integrity Verification (arXiv:2605.11770, Layer 0)</a:t>
            </a:r>
          </a:p>
          <a:p>
            <a:pPr lvl="0"/>
            <a:r>
              <a:rPr b="1"/>
              <a:t>Key claim:</a:t>
            </a:r>
            <a:r>
              <a:rPr/>
              <a:t> </a:t>
            </a:r>
            <a:r>
              <a:rPr i="1"/>
              <a:t>“A fragment of natural-language text in a metadata file can override the agent’s decision loop as effectively as code”</a:t>
            </a:r>
          </a:p>
          <a:p>
            <a:pPr lvl="0"/>
            <a:r>
              <a:rPr b="1"/>
              <a:t>Evidence:</a:t>
            </a:r>
            <a:r>
              <a:rPr/>
              <a:t> 80% of skills deviate from declared behavior — implying the declared behavior (in markdown) is what agents </a:t>
            </a:r>
            <a:r>
              <a:rPr i="1"/>
              <a:t>attempt</a:t>
            </a:r>
            <a:r>
              <a:rPr/>
              <a:t> to follow, but implementation diverges</a:t>
            </a:r>
          </a:p>
          <a:p>
            <a:pPr lvl="0"/>
            <a:r>
              <a:rPr b="1"/>
              <a:t>Level of proof:</a:t>
            </a:r>
            <a:r>
              <a:rPr/>
              <a:t> Empirical observation, not formal guarantee</a:t>
            </a:r>
          </a:p>
          <a:p>
            <a:pPr lvl="0"/>
            <a:r>
              <a:rPr b="1"/>
              <a:t>Mechanism:</a:t>
            </a:r>
            <a:r>
              <a:rPr/>
              <a:t> Skill instructions are injected into the model’s context window alongside system prompts and user messages</a:t>
            </a:r>
          </a:p>
          <a:p>
            <a:pPr lvl="0" indent="0" marL="0">
              <a:buNone/>
            </a:pPr>
            <a:r>
              <a:rPr b="1"/>
              <a:t>Three levels of influence demonstrated: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“Try to use Tool A”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Probabilistic (~60-80%)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prompting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“ALWAYS use Tool A. NEVER use Tool B.”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bias (~85-95%)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machine with runtime guards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Guaranteed (100%)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BIV studies </a:t>
            </a:r>
            <a:r>
              <a:rPr b="1"/>
              <a:t>L1-L2</a:t>
            </a:r>
            <a:r>
              <a:rPr/>
              <a:t>. The 80% deviation rate actually </a:t>
            </a:r>
            <a:r>
              <a:rPr i="1"/>
              <a:t>proves</a:t>
            </a:r>
            <a:r>
              <a:rPr/>
              <a:t> agents are trying to follow instructions (otherwise deviation wouldn’t be measurable against declared intent).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SSL Representation (arXiv:2604.24026, Layer 0)</a:t>
            </a:r>
          </a:p>
          <a:p>
            <a:pPr lvl="0"/>
            <a:r>
              <a:rPr b="1"/>
              <a:t>Key finding:</a:t>
            </a:r>
            <a:r>
              <a:rPr/>
              <a:t> 94% of skill descriptions can be decomposed into structured (scheduling, structural, logical) representations</a:t>
            </a:r>
          </a:p>
          <a:p>
            <a:pPr lvl="0"/>
            <a:r>
              <a:rPr b="1"/>
              <a:t>Implication:</a:t>
            </a:r>
            <a:r>
              <a:rPr/>
              <a:t> If skill text were irrelevant, automatic decomposition wouldn’t correlate with behavior</a:t>
            </a:r>
          </a:p>
          <a:p>
            <a:pPr lvl="0"/>
            <a:r>
              <a:rPr b="1"/>
              <a:t>Proof type:</a:t>
            </a:r>
            <a:r>
              <a:rPr/>
              <a:t> Structural analysis showing skill text encodes executable intent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Comprehensive Survey on Agent Skills (arXiv:2605.07358, Cross-layer)</a:t>
            </a:r>
          </a:p>
          <a:p>
            <a:pPr lvl="0"/>
            <a:r>
              <a:rPr b="1"/>
              <a:t>Key finding:</a:t>
            </a:r>
            <a:r>
              <a:rPr/>
              <a:t> Skills are </a:t>
            </a:r>
            <a:r>
              <a:rPr i="1"/>
              <a:t>“reusable procedural artifacts that coordinate tools, memory, and runtime context under task-specific constraints”</a:t>
            </a:r>
          </a:p>
          <a:p>
            <a:pPr lvl="0"/>
            <a:r>
              <a:rPr b="1"/>
              <a:t>Evidence:</a:t>
            </a:r>
            <a:r>
              <a:rPr/>
              <a:t> OpenClaw and Claude Code treat skill instructions as operational constraints, not documentation</a:t>
            </a:r>
          </a:p>
          <a:p>
            <a:pPr lvl="0"/>
            <a:r>
              <a:rPr b="1"/>
              <a:t>Proof type:</a:t>
            </a:r>
            <a:r>
              <a:rPr/>
              <a:t> Architecture analysis of production systems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GovernSpec / Contractual Skills (arXiv:2605.22634, Layer 0)</a:t>
            </a:r>
          </a:p>
          <a:p>
            <a:pPr lvl="0"/>
            <a:r>
              <a:rPr b="1"/>
              <a:t>Key finding:</a:t>
            </a:r>
            <a:r>
              <a:rPr/>
              <a:t> 12 contract sections in skill specs define </a:t>
            </a:r>
            <a:r>
              <a:rPr i="1"/>
              <a:t>“obligations, permissions, and prohibitions”</a:t>
            </a:r>
            <a:r>
              <a:rPr/>
              <a:t> that agents evaluate against</a:t>
            </a:r>
          </a:p>
          <a:p>
            <a:pPr lvl="0"/>
            <a:r>
              <a:rPr b="1"/>
              <a:t>Evidence:</a:t>
            </a:r>
            <a:r>
              <a:rPr/>
              <a:t> Contracts are machine-parseable and checked at load time</a:t>
            </a:r>
          </a:p>
          <a:p>
            <a:pPr lvl="0"/>
            <a:r>
              <a:rPr b="1"/>
              <a:t>Proof type:</a:t>
            </a:r>
            <a:r>
              <a:rPr/>
              <a:t> Specification framework with enforcement semantics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ClawHavoc (arXiv:2605.xxxxx, Layer 1 — referenced in BIV)</a:t>
            </a:r>
          </a:p>
          <a:p>
            <a:pPr lvl="0"/>
            <a:r>
              <a:rPr b="1"/>
              <a:t>Key finding:</a:t>
            </a:r>
            <a:r>
              <a:rPr/>
              <a:t> 1,200+ malicious skills infiltrated the OpenClaw marketplace</a:t>
            </a:r>
          </a:p>
          <a:p>
            <a:pPr lvl="0"/>
            <a:r>
              <a:rPr b="1"/>
              <a:t>Implication:</a:t>
            </a:r>
            <a:r>
              <a:rPr/>
              <a:t> If skills didn’t affect behavior, malicious skills wouldn’t be a threat vector</a:t>
            </a:r>
          </a:p>
          <a:p>
            <a:pPr lvl="0"/>
            <a:r>
              <a:rPr b="1"/>
              <a:t>Proof type:</a:t>
            </a:r>
            <a:r>
              <a:rPr/>
              <a:t> Security incident data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No Paper Claims</a:t>
            </a:r>
          </a:p>
          <a:p>
            <a:pPr lvl="0" indent="0" marL="0">
              <a:buNone/>
            </a:pPr>
            <a:r>
              <a:rPr b="1"/>
              <a:t>No paper proves:</a:t>
            </a:r>
            <a:r>
              <a:rPr/>
              <a:t> - “Skill markdown completely determines agent behavior” — false, system prompts, context truncation, and model internals also matter - “Agents always follow skill instructions” — BIV’s 80% deviation rate disproves this - “Natural language instructions are formally binding” — this requires L3 runtime enforcement (see Question 3)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1</a:t>
            </a:r>
          </a:p>
          <a:p>
            <a:pPr lvl="0" indent="0" marL="1270000">
              <a:buNone/>
            </a:pPr>
            <a:r>
              <a:rPr sz="2000" b="1"/>
              <a:t>Skills markdown affects behavior at L1-L2 (probabilistic influence). No paper proves deterministic mandate without runtime enforcement (L3). The influence is real, material, and measurable — but not guaranteed.</a:t>
            </a:r>
          </a:p>
          <a:p>
            <a:pPr lvl="0" indent="0" marL="0">
              <a:buNone/>
            </a:pPr>
            <a:r>
              <a:rPr/>
              <a:t>If you need </a:t>
            </a:r>
            <a:r>
              <a:rPr b="1"/>
              <a:t>guaranteed</a:t>
            </a:r>
            <a:r>
              <a:rPr/>
              <a:t> behavior, you need: - </a:t>
            </a:r>
            <a:r>
              <a:rPr b="1"/>
              <a:t>Static:</a:t>
            </a:r>
            <a:r>
              <a:rPr/>
              <a:t> Formal specification + type checking (see Question 2) - </a:t>
            </a:r>
            <a:r>
              <a:rPr b="1"/>
              <a:t>Runtime:</a:t>
            </a:r>
            <a:r>
              <a:rPr/>
              <a:t> Deterministic enforcement (see Question 3)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2: Formal Static Typing / Checking Before Runtime?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Yes, multiple approaches exist — but none are universally deployed.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With Static Analysis / Pre-Runtime Verification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SkillFortify (arXiv:2603.00195, Layer 0/1) — Most Advanced</a:t>
            </a:r>
          </a:p>
          <a:p>
            <a:pPr lvl="0"/>
            <a:r>
              <a:rPr b="1"/>
              <a:t>What it does:</a:t>
            </a:r>
            <a:r>
              <a:rPr/>
              <a:t> First formal analysis framework for skill supply chain security</a:t>
            </a:r>
          </a:p>
          <a:p>
            <a:pPr lvl="0"/>
            <a:r>
              <a:rPr b="1"/>
              <a:t>Static analysis:</a:t>
            </a:r>
            <a:r>
              <a:rPr/>
              <a:t> Sound static analysis via abstract interpretation</a:t>
            </a:r>
          </a:p>
          <a:p>
            <a:pPr lvl="0"/>
            <a:r>
              <a:rPr b="1"/>
              <a:t>Capability-based sandboxing:</a:t>
            </a:r>
            <a:r>
              <a:rPr/>
              <a:t> Confinement proof before deployment</a:t>
            </a:r>
          </a:p>
          <a:p>
            <a:pPr lvl="0"/>
            <a:r>
              <a:rPr b="1"/>
              <a:t>Results:</a:t>
            </a:r>
            <a:r>
              <a:rPr/>
              <a:t> F1=96.95%, 0% false positives on 540 skills</a:t>
            </a:r>
          </a:p>
          <a:p>
            <a:pPr lvl="0"/>
            <a:r>
              <a:rPr b="1"/>
              <a:t>Mechanism:</a:t>
            </a:r>
            <a:r>
              <a:rPr/>
              <a:t> Abstract interpretation builds a mathematical model of skill behavior; SAT-based resolution checks constraints</a:t>
            </a:r>
          </a:p>
          <a:p>
            <a:pPr lvl="0"/>
            <a:r>
              <a:rPr b="1"/>
              <a:t>Open source:</a:t>
            </a:r>
            <a:r>
              <a:rPr/>
              <a:t> </a:t>
            </a:r>
            <a:r>
              <a:rPr>
                <a:latin typeface="Courier"/>
              </a:rPr>
              <a:t>pip install skillfortify</a:t>
            </a:r>
            <a:r>
              <a:rPr/>
              <a:t> — https://github.com/varun369/skillfortify</a:t>
            </a:r>
          </a:p>
          <a:p>
            <a:pPr lvl="0"/>
            <a:r>
              <a:rPr b="1"/>
              <a:t>Gap:</a:t>
            </a:r>
            <a:r>
              <a:rPr/>
              <a:t> Analyzes code, not natural language skill descriptions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SkCC / Skill Compilation (arXiv:2605.03353, Layer 1/2)</a:t>
            </a:r>
          </a:p>
          <a:p>
            <a:pPr lvl="0"/>
            <a:r>
              <a:rPr b="1"/>
              <a:t>What it does:</a:t>
            </a:r>
            <a:r>
              <a:rPr/>
              <a:t> Portable and secure skill compilation with strongly-typed intermediate representation (SkIR)</a:t>
            </a:r>
          </a:p>
          <a:p>
            <a:pPr lvl="0"/>
            <a:r>
              <a:rPr b="1"/>
              <a:t>Static typing:</a:t>
            </a:r>
            <a:r>
              <a:rPr/>
              <a:t> SkIR decouples skill semantics from framework-specific formatting</a:t>
            </a:r>
          </a:p>
          <a:p>
            <a:pPr lvl="0"/>
            <a:r>
              <a:rPr b="1"/>
              <a:t>Security:</a:t>
            </a:r>
            <a:r>
              <a:rPr/>
              <a:t> Static optimizer enforces security constraints before deployment</a:t>
            </a:r>
          </a:p>
          <a:p>
            <a:pPr lvl="0"/>
            <a:r>
              <a:rPr b="1"/>
              <a:t>Results:</a:t>
            </a:r>
            <a:r>
              <a:rPr/>
              <a:t> 94.8% proactive security trigger rate; reduces adaptation complexity from O(m×n) to O(m+n)</a:t>
            </a:r>
          </a:p>
          <a:p>
            <a:pPr lvl="0"/>
            <a:r>
              <a:rPr b="1"/>
              <a:t>Gap:</a:t>
            </a:r>
            <a:r>
              <a:rPr/>
              <a:t> Requires skills to be written in SkIR, not natural language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GovernSpec / Contractual Skills (arXiv:2605.22634, Layer 0)</a:t>
            </a:r>
          </a:p>
          <a:p>
            <a:pPr lvl="0"/>
            <a:r>
              <a:rPr b="1"/>
              <a:t>What it does:</a:t>
            </a:r>
            <a:r>
              <a:rPr/>
              <a:t> 12 contract sections (P, I, G, R — Preconditions, Invariants, Governance, Recovery)</a:t>
            </a:r>
          </a:p>
          <a:p>
            <a:pPr lvl="0"/>
            <a:r>
              <a:rPr b="1"/>
              <a:t>Static checking:</a:t>
            </a:r>
            <a:r>
              <a:rPr/>
              <a:t> Machine-parseable contracts checked at skill load time</a:t>
            </a:r>
          </a:p>
          <a:p>
            <a:pPr lvl="0"/>
            <a:r>
              <a:rPr b="1"/>
              <a:t>Gap:</a:t>
            </a:r>
            <a:r>
              <a:rPr/>
              <a:t> Contracts are natural language with structured sections, not formal logic; no type system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SSL Representation (arXiv:2604.24026, Layer 0)</a:t>
            </a:r>
          </a:p>
          <a:p>
            <a:pPr lvl="0"/>
            <a:r>
              <a:rPr b="1"/>
              <a:t>What it does:</a:t>
            </a:r>
            <a:r>
              <a:rPr/>
              <a:t> Decomposes skill text into Scheduling-Structural-Logical representations</a:t>
            </a:r>
          </a:p>
          <a:p>
            <a:pPr lvl="0"/>
            <a:r>
              <a:rPr b="1"/>
              <a:t>Static checking:</a:t>
            </a:r>
            <a:r>
              <a:rPr/>
              <a:t> Structured representation enables automated verification, policy checking</a:t>
            </a:r>
          </a:p>
          <a:p>
            <a:pPr lvl="0"/>
            <a:r>
              <a:rPr b="1"/>
              <a:t>Gap:</a:t>
            </a:r>
            <a:r>
              <a:rPr/>
              <a:t> 87% accuracy vs expert annotations; not a formal type system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AgentVerify (preprints.org, 2026, Layer 1/2)</a:t>
            </a:r>
          </a:p>
          <a:p>
            <a:pPr lvl="0"/>
            <a:r>
              <a:rPr b="1"/>
              <a:t>What it does:</a:t>
            </a:r>
            <a:r>
              <a:rPr/>
              <a:t> Compositional formal verification via LTL model checking</a:t>
            </a:r>
          </a:p>
          <a:p>
            <a:pPr lvl="0"/>
            <a:r>
              <a:rPr b="1"/>
              <a:t>Static checking:</a:t>
            </a:r>
            <a:r>
              <a:rPr/>
              <a:t> 23 temporal logic templates for memory integrity, tool call protocols, MCP/skill invocations</a:t>
            </a:r>
          </a:p>
          <a:p>
            <a:pPr lvl="0"/>
            <a:r>
              <a:rPr b="1"/>
              <a:t>Results:</a:t>
            </a:r>
            <a:r>
              <a:rPr/>
              <a:t> 86.67% verification accuracy</a:t>
            </a:r>
          </a:p>
          <a:p>
            <a:pPr lvl="0"/>
            <a:r>
              <a:rPr b="1"/>
              <a:t>Gap:</a:t>
            </a:r>
            <a:r>
              <a:rPr/>
              <a:t> Post-hoc analysis, not pre-runtime type checking; requires model checking expertise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Skilldex (arXiv:2604.16911, Layer 0)</a:t>
            </a:r>
          </a:p>
          <a:p>
            <a:pPr lvl="0"/>
            <a:r>
              <a:rPr b="1"/>
              <a:t>What it does:</a:t>
            </a:r>
            <a:r>
              <a:rPr/>
              <a:t> Validation engine for skill packages</a:t>
            </a:r>
          </a:p>
          <a:p>
            <a:pPr lvl="0"/>
            <a:r>
              <a:rPr b="1"/>
              <a:t>Static checking:</a:t>
            </a:r>
            <a:r>
              <a:rPr/>
              <a:t> Schema validation, format checking, coherence analysis</a:t>
            </a:r>
          </a:p>
          <a:p>
            <a:pPr lvl="0"/>
            <a:r>
              <a:rPr b="1"/>
              <a:t>Results:</a:t>
            </a:r>
            <a:r>
              <a:rPr/>
              <a:t> 34% of community packages malformed</a:t>
            </a:r>
          </a:p>
          <a:p>
            <a:pPr lvl="0"/>
            <a:r>
              <a:rPr b="1"/>
              <a:t>Gap:</a:t>
            </a:r>
            <a:r>
              <a:rPr/>
              <a:t> Schema-level, not behavioral type checking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MIGT / Machine Identity Governance (arXiv:2604.06148, Layer 1/3)</a:t>
            </a:r>
          </a:p>
          <a:p>
            <a:pPr lvl="0"/>
            <a:r>
              <a:rPr b="1"/>
              <a:t>What it does:</a:t>
            </a:r>
            <a:r>
              <a:rPr/>
              <a:t> Skill-level attestation as runtime admission control</a:t>
            </a:r>
          </a:p>
          <a:p>
            <a:pPr lvl="0"/>
            <a:r>
              <a:rPr b="1"/>
              <a:t>Static checking:</a:t>
            </a:r>
            <a:r>
              <a:rPr/>
              <a:t> Attestation binds skill to verified identity before execution</a:t>
            </a:r>
          </a:p>
          <a:p>
            <a:pPr lvl="0"/>
            <a:r>
              <a:rPr b="1"/>
              <a:t>Gap:</a:t>
            </a:r>
            <a:r>
              <a:rPr/>
              <a:t> Identity verification, not behavioral type checking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Missing (The Gap)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Formal type system for skill interfaces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SkCC has SkIR but it’s not a type system for natural language skills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Static behavioral type checking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SkillFortify does formal analysis of code; not for NL descriptions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 compatibility checking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MPST-style session type checking for multi-agent interactions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Pre-runtime deadlock 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addressed in any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Skill-skill interaction 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static analysis of how multiple skills compose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2</a:t>
            </a:r>
          </a:p>
          <a:p>
            <a:pPr lvl="0" indent="0" marL="1270000">
              <a:buNone/>
            </a:pPr>
            <a:r>
              <a:rPr sz="2000" b="1"/>
              <a:t>Static analysis exists (SkillFortify, SkCC) but is limited to code artifacts or structured representations. There is no formal type system for natural language skill descriptions, and no MPST-style static protocol checking for multi-agent interactions. This is a research gap.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3: Runtime Checking in a Deterministic Way (Not LLM-as-Judge)?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 — multiple deterministic runtime enforcement mechanisms exist, some formally verified.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With Deterministic Runtime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ACP — Admission Control Protocol (arXiv:2603.18829, Layer 1) — Fastest + Formally Verified</a:t>
            </a:r>
          </a:p>
          <a:p>
            <a:pPr lvl="0"/>
            <a:r>
              <a:rPr b="1"/>
              <a:t>Deterministic:</a:t>
            </a:r>
            <a:r>
              <a:rPr/>
              <a:t> Yes — risk scoring is deterministic, not LLM-based</a:t>
            </a:r>
          </a:p>
          <a:p>
            <a:pPr lvl="0"/>
            <a:r>
              <a:rPr b="1"/>
              <a:t>Mechanism:</a:t>
            </a:r>
            <a:r>
              <a:rPr/>
              <a:t> Temporal admission control with static risk scoring + stateful signals (anomaly accumulation, cooldown) through LedgerQuerier</a:t>
            </a:r>
          </a:p>
          <a:p>
            <a:pPr lvl="0"/>
            <a:r>
              <a:rPr b="1"/>
              <a:t>Performance:</a:t>
            </a:r>
            <a:r>
              <a:rPr/>
              <a:t> 739-832 ns decision latency; 1,720,000 req/s throughput</a:t>
            </a:r>
          </a:p>
          <a:p>
            <a:pPr lvl="0"/>
            <a:r>
              <a:rPr b="1"/>
              <a:t>Verification:</a:t>
            </a:r>
            <a:r>
              <a:rPr/>
              <a:t> TLA+ verified across 4,294,930,695 states, 11 invariants + 4 temporal properties, 0 violations</a:t>
            </a:r>
          </a:p>
          <a:p>
            <a:pPr lvl="0"/>
            <a:r>
              <a:rPr b="1"/>
              <a:t>Key result:</a:t>
            </a:r>
            <a:r>
              <a:rPr/>
              <a:t> Stateless engines approve 100% of individually-valid requests in a 500-request attack chain; ACP limits autonomous execution to 0.4%</a:t>
            </a:r>
          </a:p>
          <a:p>
            <a:pPr lvl="0"/>
            <a:r>
              <a:rPr b="1"/>
              <a:t>Open source:</a:t>
            </a:r>
            <a:r>
              <a:rPr/>
              <a:t> Go reference implementation (23 packages, 138 conformance tests)</a:t>
            </a:r>
          </a:p>
          <a:p>
            <a:pPr lvl="0"/>
            <a:r>
              <a:rPr b="1"/>
              <a:t>Paper series:</a:t>
            </a:r>
            <a:r>
              <a:rPr/>
              <a:t> 1 of 6-paper Agent Governance Series (Marcelo Fernandez)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Agent Behavioral Contracts (ABC) (arXiv:2602.22302, Layer 1/2) — Most Comprehensive</a:t>
            </a:r>
          </a:p>
          <a:p>
            <a:pPr lvl="0"/>
            <a:r>
              <a:rPr b="1"/>
              <a:t>Deterministic:</a:t>
            </a:r>
            <a:r>
              <a:rPr/>
              <a:t> Yes — contracts are formal, not probabilistic</a:t>
            </a:r>
          </a:p>
          <a:p>
            <a:pPr lvl="0"/>
            <a:r>
              <a:rPr b="1"/>
              <a:t>Mechanism:</a:t>
            </a:r>
            <a:r>
              <a:rPr/>
              <a:t> Contract C = (P, I, G, R) — Preconditions, Invariants, Governance policies, Recovery</a:t>
            </a:r>
          </a:p>
          <a:p>
            <a:pPr lvl="0"/>
            <a:r>
              <a:rPr b="1"/>
              <a:t>Runtime:</a:t>
            </a:r>
            <a:r>
              <a:rPr/>
              <a:t> AgentAssert library enforces contracts with &lt;10 ms overhead per action</a:t>
            </a:r>
          </a:p>
          <a:p>
            <a:pPr lvl="0"/>
            <a:r>
              <a:rPr b="1"/>
              <a:t>Results:</a:t>
            </a:r>
            <a:r>
              <a:rPr/>
              <a:t> 88-100% hard constraint compliance; behavioral drift bounded to D* &lt; 0.27</a:t>
            </a:r>
          </a:p>
          <a:p>
            <a:pPr lvl="0"/>
            <a:r>
              <a:rPr b="1"/>
              <a:t>Verification:</a:t>
            </a:r>
            <a:r>
              <a:rPr/>
              <a:t> (p, delta, k)-satisfaction for probabilistic compliance; Drift Bounds Theorem</a:t>
            </a:r>
          </a:p>
          <a:p>
            <a:pPr lvl="0"/>
            <a:r>
              <a:rPr b="1"/>
              <a:t>Open source:</a:t>
            </a:r>
            <a:r>
              <a:rPr/>
              <a:t> AgentAssert runtime library (Qualixar suite)</a:t>
            </a:r>
          </a:p>
          <a:p>
            <a:pPr lvl="0"/>
            <a:r>
              <a:rPr b="1"/>
              <a:t>Gap:</a:t>
            </a:r>
            <a:r>
              <a:rPr/>
              <a:t> Contracts are probabilistically satisfied, not 100% deterministic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Runtime Governance / Policies on Paths (arXiv:2603.16586, Layer 1) — Most Expressive</a:t>
            </a:r>
          </a:p>
          <a:p>
            <a:pPr lvl="0"/>
            <a:r>
              <a:rPr b="1"/>
              <a:t>Deterministic:</a:t>
            </a:r>
            <a:r>
              <a:rPr/>
              <a:t> Yes — policies are temporal predicates, not LLM-evaluated</a:t>
            </a:r>
          </a:p>
          <a:p>
            <a:pPr lvl="0"/>
            <a:r>
              <a:rPr b="1"/>
              <a:t>Mechanism:</a:t>
            </a:r>
            <a:r>
              <a:rPr/>
              <a:t> Path-based policies as functions on execution paths; policy compiler translates requirements to executable path monitors</a:t>
            </a:r>
          </a:p>
          <a:p>
            <a:pPr lvl="0"/>
            <a:r>
              <a:rPr b="1"/>
              <a:t>Complexity:</a:t>
            </a:r>
            <a:r>
              <a:rPr/>
              <a:t> Polynomial-time evaluation</a:t>
            </a:r>
          </a:p>
          <a:p>
            <a:pPr lvl="0"/>
            <a:r>
              <a:rPr b="1"/>
              <a:t>Expressiveness:</a:t>
            </a:r>
            <a:r>
              <a:rPr/>
              <a:t> Can encode separation of duties, data minimization, audit trails</a:t>
            </a:r>
          </a:p>
          <a:p>
            <a:pPr lvl="0"/>
            <a:r>
              <a:rPr b="1"/>
              <a:t>Gap:</a:t>
            </a:r>
            <a:r>
              <a:rPr/>
              <a:t> Proposed framework, not yet evaluated at scale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AgentVerify (preprints.org, 2026, Layer 1/2)</a:t>
            </a:r>
          </a:p>
          <a:p>
            <a:pPr lvl="0"/>
            <a:r>
              <a:rPr b="1"/>
              <a:t>Deterministic:</a:t>
            </a:r>
            <a:r>
              <a:rPr/>
              <a:t> Hybrid — O(1) runtime monitor + post-hoc Kripke-structure analyser</a:t>
            </a:r>
          </a:p>
          <a:p>
            <a:pPr lvl="0"/>
            <a:r>
              <a:rPr b="1"/>
              <a:t>Mechanism:</a:t>
            </a:r>
            <a:r>
              <a:rPr/>
              <a:t> LTL model checking for memory integrity, tool call protocols, MCP/skill invocations, human-in-the-loop boundaries</a:t>
            </a:r>
          </a:p>
          <a:p>
            <a:pPr lvl="0"/>
            <a:r>
              <a:rPr b="1"/>
              <a:t>Results:</a:t>
            </a:r>
            <a:r>
              <a:rPr/>
              <a:t> 86.67% verification accuracy vs 46.67% runtime baseline</a:t>
            </a:r>
          </a:p>
          <a:p>
            <a:pPr lvl="0"/>
            <a:r>
              <a:rPr b="1"/>
              <a:t>Gap:</a:t>
            </a:r>
            <a:r>
              <a:rPr/>
              <a:t> Hybrid architecture, not purely deterministic runtime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SentinelAgent (arXiv:2604.02767, Layer 1)</a:t>
            </a:r>
          </a:p>
          <a:p>
            <a:pPr lvl="0"/>
            <a:r>
              <a:rPr b="1"/>
              <a:t>Deterministic:</a:t>
            </a:r>
            <a:r>
              <a:rPr/>
              <a:t> Yes — Delegation Chain Calculus with 7 formal properties</a:t>
            </a:r>
          </a:p>
          <a:p>
            <a:pPr lvl="0"/>
            <a:r>
              <a:rPr b="1"/>
              <a:t>Mechanism:</a:t>
            </a:r>
            <a:r>
              <a:rPr/>
              <a:t> DCC (Delegation Chain Calculus) — authority narrowing, policy preservation, forensic reconstructibility, cascade containment, scope-action conformance, output schema conformance, intent preservation</a:t>
            </a:r>
          </a:p>
          <a:p>
            <a:pPr lvl="0"/>
            <a:r>
              <a:rPr b="1"/>
              <a:t>Verification:</a:t>
            </a:r>
            <a:r>
              <a:rPr/>
              <a:t> TLA+ verified across 2.7 million states</a:t>
            </a:r>
          </a:p>
          <a:p>
            <a:pPr lvl="0"/>
            <a:r>
              <a:rPr b="1"/>
              <a:t>Results:</a:t>
            </a:r>
            <a:r>
              <a:rPr/>
              <a:t> 100% TPR at 0% FPR on DelegationBench v4 (516 scenarios, 10 attack categories)</a:t>
            </a:r>
          </a:p>
          <a:p>
            <a:pPr lvl="0"/>
            <a:r>
              <a:rPr b="1"/>
              <a:t>Gap:</a:t>
            </a:r>
            <a:r>
              <a:rPr/>
              <a:t> Focused on delegation chains, not general skill execution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Trace-Based Assurance Framework (arXiv:2603.18096, Layer 1/2)</a:t>
            </a:r>
          </a:p>
          <a:p>
            <a:pPr lvl="0"/>
            <a:r>
              <a:rPr b="1"/>
              <a:t>Deterministic:</a:t>
            </a:r>
            <a:r>
              <a:rPr/>
              <a:t> Yes — Message-Action Traces (MAT) with explicit contracts</a:t>
            </a:r>
          </a:p>
          <a:p>
            <a:pPr lvl="0"/>
            <a:r>
              <a:rPr b="1"/>
              <a:t>Mechanism:</a:t>
            </a:r>
            <a:r>
              <a:rPr/>
              <a:t> Machine-checkable verdicts, deterministic replay, structured fault injection</a:t>
            </a:r>
          </a:p>
          <a:p>
            <a:pPr lvl="0"/>
            <a:r>
              <a:rPr b="1"/>
              <a:t>Governance:</a:t>
            </a:r>
            <a:r>
              <a:rPr/>
              <a:t> Runtime component enforcing per-agent capability limits and action mediation (allow/rewrite/block)</a:t>
            </a:r>
          </a:p>
          <a:p>
            <a:pPr lvl="0"/>
            <a:r>
              <a:rPr b="1"/>
              <a:t>Gap:</a:t>
            </a:r>
            <a:r>
              <a:rPr/>
              <a:t> Complex to implement; requires trace instrumentation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LGA / Layered Governance Architecture (arXiv:2603.07191, Layer 1)</a:t>
            </a:r>
          </a:p>
          <a:p>
            <a:pPr lvl="0"/>
            <a:r>
              <a:rPr b="1"/>
              <a:t>Deterministic:</a:t>
            </a:r>
            <a:r>
              <a:rPr/>
              <a:t> Yes — sandboxing, intent verification, zero-trust authorization, audit logging</a:t>
            </a:r>
          </a:p>
          <a:p>
            <a:pPr lvl="0"/>
            <a:r>
              <a:rPr b="1"/>
              <a:t>Mechanism:</a:t>
            </a:r>
            <a:r>
              <a:rPr/>
              <a:t> Four layers of runtime governance</a:t>
            </a:r>
          </a:p>
          <a:p>
            <a:pPr lvl="0"/>
            <a:r>
              <a:rPr b="1"/>
              <a:t>Results:</a:t>
            </a:r>
            <a:r>
              <a:rPr/>
              <a:t> 89% of attacks succeed against baseline guardrails — showing LGA’s enforcement is needed</a:t>
            </a:r>
          </a:p>
          <a:p>
            <a:pPr lvl="0"/>
            <a:r>
              <a:rPr b="1"/>
              <a:t>Gap:</a:t>
            </a:r>
            <a:r>
              <a:rPr/>
              <a:t> Architectural framework, not a specific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MCP-38 / Threat Taxonomy (arXiv:2603.18063, Layer 1)</a:t>
            </a:r>
          </a:p>
          <a:p>
            <a:pPr lvl="0"/>
            <a:r>
              <a:rPr b="1"/>
              <a:t>Deterministic:</a:t>
            </a:r>
            <a:r>
              <a:rPr/>
              <a:t> N/A — taxonomy paper, not enforcement</a:t>
            </a:r>
          </a:p>
          <a:p>
            <a:pPr lvl="0"/>
            <a:r>
              <a:rPr b="1"/>
              <a:t>Contribution:</a:t>
            </a:r>
            <a:r>
              <a:rPr/>
              <a:t> 38 threat categories mapped to STRIDE, OWASP LLM Top 10, OWASP Agentic Top 10</a:t>
            </a:r>
          </a:p>
          <a:p>
            <a:pPr lvl="0"/>
            <a:r>
              <a:rPr b="1"/>
              <a:t>Gap:</a:t>
            </a:r>
            <a:r>
              <a:rPr/>
              <a:t> No runtime enforcement mechanism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NIST IR 8596 (Dec 2025, Layer 1/2)</a:t>
            </a:r>
          </a:p>
          <a:p>
            <a:pPr lvl="0"/>
            <a:r>
              <a:rPr b="1"/>
              <a:t>Deterministic:</a:t>
            </a:r>
            <a:r>
              <a:rPr/>
              <a:t> Standards document, not implementation</a:t>
            </a:r>
          </a:p>
          <a:p>
            <a:pPr lvl="0"/>
            <a:r>
              <a:rPr b="1"/>
              <a:t>Gap:</a:t>
            </a:r>
            <a:r>
              <a:rPr/>
              <a:t> Framework only, no runtime enforcement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Comparison: Deterministic vs LLM-as-Judge Runtime Checking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 Ready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739-832 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TLA+ (4.2B states)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Go impl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ABC / AgentAssert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Mostly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Bounds Theorem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Library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Runtime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Polynomial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Proposed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AgentVerify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 monitor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LTL model checking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SentinelAgent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TLA+ (2.7M states)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Trace-Based Assurance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Replay-based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Complex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BeSafe-Bench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Benchmark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ST-WebAgentBench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Benchmark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Missing (The Gap)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 skill-level policy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ABC, ACP, Runtime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Sub-microsecond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ACP (739-832 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Formally verified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ACP (TLA+), SentinelAgent (TLA+)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MPST-style session type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multi-party session type checking at runtime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 skill composition 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runtime checking that composed skills preserve invariants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Behavioral typing with blame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blame assignment when agents violate protocols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Real-time rollback on violation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ABC has Recovery (R) contracts; not automatic rollback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3</a:t>
            </a:r>
          </a:p>
          <a:p>
            <a:pPr lvl="0" indent="0" marL="1270000">
              <a:buNone/>
            </a:pPr>
            <a:r>
              <a:rPr sz="2000" b="1"/>
              <a:t>Deterministic runtime enforcement exists and is production-ready (ACP, ABC/AgentAssert). These are not LLM-as-judge — they use formal risk scoring, temporal logic, and contract enforcement. The fastest (ACP) is sub-microsecond with TLA+ formal verification. However, MPST-style multi-party session type enforcement and automatic rollback are still research gaps.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Overall Assessment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Three Questions — Synthesis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Existing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 Do skills affect behavior?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Yes, empirically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BIV, SSL Survey, GovernSpec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formal guarantee without L3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 Static type checking?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SkillFortify, SkCC, GovernSpec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formal type system for NL skills; no MPST static checking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 Deterministic runtime?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ACP, ABC/AgentAssert, Runtime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MPST runtime enforcement; no automatic rollback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MPST Opportunity</a:t>
            </a:r>
          </a:p>
          <a:p>
            <a:pPr lvl="0" indent="0" marL="0">
              <a:buNone/>
            </a:pPr>
            <a:r>
              <a:rPr/>
              <a:t>Your intuition is correct: </a:t>
            </a:r>
            <a:r>
              <a:rPr b="1"/>
              <a:t>the gap is at the intersection of all three.</a:t>
            </a:r>
          </a:p>
          <a:p>
            <a:pPr lvl="0" indent="0" marL="0">
              <a:buNone/>
            </a:pPr>
            <a:r>
              <a:rPr/>
              <a:t>What doesn’t exist yet: - </a:t>
            </a:r>
            <a:r>
              <a:rPr b="1"/>
              <a:t>Static:</a:t>
            </a:r>
            <a:r>
              <a:rPr/>
              <a:t> MPST session types for multi-agent skill interactions, checked before runtime - </a:t>
            </a:r>
            <a:r>
              <a:rPr b="1"/>
              <a:t>Runtime:</a:t>
            </a:r>
            <a:r>
              <a:rPr/>
              <a:t> Deterministic enforcement of MPST protocols with blame assignment and rollback - </a:t>
            </a:r>
            <a:r>
              <a:rPr b="1"/>
              <a:t>Behavioral guarantee:</a:t>
            </a:r>
            <a:r>
              <a:rPr/>
              <a:t> Proof that if all agents follow the protocol, global invariants hold</a:t>
            </a:r>
          </a:p>
          <a:p>
            <a:pPr lvl="0" indent="0" marL="0">
              <a:buNone/>
            </a:pPr>
            <a:r>
              <a:rPr/>
              <a:t>The closest existing work: - </a:t>
            </a:r>
            <a:r>
              <a:rPr b="1"/>
              <a:t>ACP</a:t>
            </a:r>
            <a:r>
              <a:rPr/>
              <a:t> — fast, formally verified, temporal admission control (single agent) - </a:t>
            </a:r>
            <a:r>
              <a:rPr b="1"/>
              <a:t>ABC</a:t>
            </a:r>
            <a:r>
              <a:rPr/>
              <a:t> — behavioral contracts with probabilistic compliance (single agent) - </a:t>
            </a:r>
            <a:r>
              <a:rPr b="1"/>
              <a:t>SentinelAgent</a:t>
            </a:r>
            <a:r>
              <a:rPr/>
              <a:t> — formal delegation chain verification (multi-agent, but not general protocols) - </a:t>
            </a:r>
            <a:r>
              <a:rPr b="1"/>
              <a:t>Runtime Governance</a:t>
            </a:r>
            <a:r>
              <a:rPr/>
              <a:t> — temporal predicates on paths (expressive, but not yet multi-agent)</a:t>
            </a:r>
          </a:p>
          <a:p>
            <a:pPr lvl="0" indent="0" marL="0">
              <a:buNone/>
            </a:pPr>
            <a:r>
              <a:rPr b="1"/>
              <a:t>The research opportunity:</a:t>
            </a:r>
            <a:r>
              <a:rPr/>
              <a:t> Extend MPST to the agent skill domain — static session type checking for skill composition, plus deterministic runtime enforcement with sub-microsecond overhead and formal verification.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Compiled by EvaPaper | Based on 28 papers across the Three-Layer Governance Stack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2026-06-05T16:40:04Z</dcterms:created>
  <dcterms:modified xsi:type="dcterms:W3CDTF">2026-06-05T16:40:04Z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