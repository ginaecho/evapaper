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AI Agent Governance:</a:t>
            </a:r>
            <a:br/>
            <a:r>
              <a:t>Three-Layer Stack &amp; Research</a:t>
            </a:r>
          </a:p>
          <a:p>
            <a:pPr algn="ctr">
              <a:defRPr sz="2000"/>
            </a:pPr>
            <a:r>
              <a:t>Updated June 4, 2026 | 24 papers + 22 products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The Three-Layer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Layer 0 — Spec-Level: Govern how agents/skills are defined (SKILL.md, prompts, schemas)</a:t>
            </a:r>
          </a:p>
          <a:p>
            <a:pPr>
              <a:spcAft>
                <a:spcPts val="800"/>
              </a:spcAft>
              <a:defRPr sz="1600"/>
            </a:pPr>
            <a:r>
              <a:t>Layer 1 — Runtime-Level: Govern how agents execute (sandboxing, tool approval, observability)</a:t>
            </a:r>
          </a:p>
          <a:p>
            <a:pPr>
              <a:spcAft>
                <a:spcPts val="800"/>
              </a:spcAft>
              <a:defRPr sz="1600"/>
            </a:pPr>
            <a:r>
              <a:t>Layer 2 — Behavioral-Level: Govern what agents do (benchmarks, evaluation, red-teaming)</a:t>
            </a:r>
          </a:p>
          <a:p>
            <a:pPr>
              <a:spcAft>
                <a:spcPts val="800"/>
              </a:spcAft>
              <a:defRPr sz="1600"/>
            </a:pPr>
            <a:r>
              <a:t>Layer 3 — Meta-Governance: Govern the governance itself (audit, human oversight, compliance)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Why This Matters (Key Findings)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34% of community skill packages are malformed (Skilldex)</a:t>
            </a:r>
          </a:p>
          <a:p>
            <a:pPr>
              <a:spcAft>
                <a:spcPts val="800"/>
              </a:spcAft>
              <a:defRPr sz="1600"/>
            </a:pPr>
            <a:r>
              <a:t>89% of attacks succeed against baseline guardrails (LGA)</a:t>
            </a:r>
          </a:p>
          <a:p>
            <a:pPr>
              <a:spcAft>
                <a:spcPts val="800"/>
              </a:spcAft>
              <a:defRPr sz="1600"/>
            </a:pPr>
            <a:r>
              <a:t>60%+ of tasks have safety violations (BeSafe-Bench)</a:t>
            </a:r>
          </a:p>
          <a:p>
            <a:pPr>
              <a:spcAft>
                <a:spcPts val="800"/>
              </a:spcAft>
              <a:defRPr sz="1600"/>
            </a:pPr>
            <a:r>
              <a:t>40% of agent projects face cancellation (Agent Evaluation Guide)</a:t>
            </a:r>
          </a:p>
          <a:p>
            <a:pPr>
              <a:spcAft>
                <a:spcPts val="800"/>
              </a:spcAft>
              <a:defRPr sz="1600"/>
            </a:pPr>
            <a:r>
              <a:t>0% concordance across safety benchmarks (Kendall's W = 0.10)</a:t>
            </a:r>
          </a:p>
          <a:p>
            <a:pPr>
              <a:spcAft>
                <a:spcPts val="800"/>
              </a:spcAft>
              <a:defRPr sz="1600"/>
            </a:pPr>
            <a:r>
              <a:t>100% of individually-valid requests in attack chain approved by stateless engines</a:t>
            </a:r>
          </a:p>
          <a:p>
            <a:pPr>
              <a:spcAft>
                <a:spcPts val="800"/>
              </a:spcAft>
              <a:defRPr sz="1600"/>
            </a:pPr>
            <a:r>
              <a:t>1,200+ malicious skills infiltrated OpenClaw marketplace (ClawHavoc)</a:t>
            </a:r>
          </a:p>
          <a:p>
            <a:pPr>
              <a:spcAft>
                <a:spcPts val="800"/>
              </a:spcAft>
              <a:defRPr sz="1600"/>
            </a:pPr>
            <a:r>
              <a:t>Governance is the difference between agents that work and agents that are safe to 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New Papers (June 4, 2026 Scout)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1. Taxonomy &amp; Consistency Analysis (2605.16282) — 40 benchmarks, zero concordance</a:t>
            </a:r>
          </a:p>
          <a:p>
            <a:pPr>
              <a:spcAft>
                <a:spcPts val="800"/>
              </a:spcAft>
              <a:defRPr sz="1600"/>
            </a:pPr>
            <a:r>
              <a:t>2. Governance by Construction / CUGA (2605.20874) — IBM, policy-as-code, 5 checkpoints</a:t>
            </a:r>
          </a:p>
          <a:p>
            <a:pPr>
              <a:spcAft>
                <a:spcPts val="800"/>
              </a:spcAft>
              <a:defRPr sz="1600"/>
            </a:pPr>
            <a:r>
              <a:t>3. Agent Behavioral Contracts / ABC (2602.22302) — Design-by-Contract for agents, Drift Bounds Theorem</a:t>
            </a:r>
          </a:p>
          <a:p>
            <a:pPr>
              <a:spcAft>
                <a:spcPts val="800"/>
              </a:spcAft>
              <a:defRPr sz="1600"/>
            </a:pPr>
            <a:r>
              <a:t>4. AgentVerify (202604.1029) — LTL model checking, 86.67% verification accuracy</a:t>
            </a:r>
          </a:p>
          <a:p>
            <a:pPr>
              <a:spcAft>
                <a:spcPts val="800"/>
              </a:spcAft>
              <a:defRPr sz="1600"/>
            </a:pPr>
            <a:r>
              <a:t>5. SkillFortify (2603.00195) — Formal skill supply chain verification, F1=96.95%</a:t>
            </a:r>
          </a:p>
          <a:p>
            <a:pPr>
              <a:spcAft>
                <a:spcPts val="800"/>
              </a:spcAft>
              <a:defRPr sz="1600"/>
            </a:pPr>
            <a:r>
              <a:t>6. AgentAssay (2603.02601) — Regression testing for non-deterministic agents, 78-100% cost reduction</a:t>
            </a:r>
          </a:p>
          <a:p>
            <a:pPr>
              <a:spcAft>
                <a:spcPts val="800"/>
              </a:spcAft>
              <a:defRPr sz="1600"/>
            </a:pPr>
            <a:r>
              <a:t>7. Comprehensive Survey on Agent Skills (2605.07358) — Full skill lifecycle survey</a:t>
            </a:r>
          </a:p>
          <a:p>
            <a:pPr>
              <a:spcAft>
                <a:spcPts val="800"/>
              </a:spcAft>
              <a:defRPr sz="1600"/>
            </a:pPr>
            <a:r>
              <a:t>8. Machine Identity Governance Taxonomy (2604.06148) — CSA, 37 risk sub-categories</a:t>
            </a:r>
          </a:p>
          <a:p>
            <a:pPr>
              <a:spcAft>
                <a:spcPts val="800"/>
              </a:spcAft>
              <a:defRPr sz="1600"/>
            </a:pPr>
            <a:r>
              <a:t>9. Admission Control / ACP (2603.18829) — Temporal admission control, 1.7M req/s, TLA+ verified</a:t>
            </a:r>
          </a:p>
          <a:p>
            <a:pPr>
              <a:spcAft>
                <a:spcPts val="800"/>
              </a:spcAft>
              <a:defRPr sz="1600"/>
            </a:pPr>
            <a:r>
              <a:t>10. Unified Review: Memory, Skills, Protocols (2604.08224) — Externalization theory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ABC: Agent Behavioral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Contract C = (P, I, G, R): Preconditions, Invariants, Governance, Recovery</a:t>
            </a:r>
          </a:p>
          <a:p>
            <a:pPr>
              <a:spcAft>
                <a:spcPts val="800"/>
              </a:spcAft>
              <a:defRPr sz="1600"/>
            </a:pPr>
            <a:r>
              <a:t>(p, delta, k)-satisfaction: probabilistic compliance for LLM non-determinism</a:t>
            </a:r>
          </a:p>
          <a:p>
            <a:pPr>
              <a:spcAft>
                <a:spcPts val="800"/>
              </a:spcAft>
              <a:defRPr sz="1600"/>
            </a:pPr>
            <a:r>
              <a:t>Drift Bounds Theorem: contracts with recovery rate gamma &gt; alpha bound drift to D* = alpha/gamma</a:t>
            </a:r>
          </a:p>
          <a:p>
            <a:pPr>
              <a:spcAft>
                <a:spcPts val="800"/>
              </a:spcAft>
              <a:defRPr sz="1600"/>
            </a:pPr>
            <a:r>
              <a:t>AgentAssert runtime enforcement: &lt;10 ms overhead per action</a:t>
            </a:r>
          </a:p>
          <a:p>
            <a:pPr>
              <a:spcAft>
                <a:spcPts val="800"/>
              </a:spcAft>
              <a:defRPr sz="1600"/>
            </a:pPr>
            <a:r>
              <a:t>1,980 sessions across 7 models: 5.2-6.8 soft violations detected per session</a:t>
            </a:r>
          </a:p>
          <a:p>
            <a:pPr>
              <a:spcAft>
                <a:spcPts val="800"/>
              </a:spcAft>
              <a:defRPr sz="1600"/>
            </a:pPr>
            <a:r>
              <a:t>88-100% hard constraint compliance; behavioral drift bounded to D* &lt; 0.27</a:t>
            </a:r>
          </a:p>
          <a:p>
            <a:pPr>
              <a:spcAft>
                <a:spcPts val="800"/>
              </a:spcAft>
              <a:defRPr sz="1600"/>
            </a:pPr>
            <a:r>
              <a:t>Open source: part of Qualixar suite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ACP: Admission Control for Agent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Temporal (history-aware) admission control — not per-request evaluation</a:t>
            </a:r>
          </a:p>
          <a:p>
            <a:pPr>
              <a:spcAft>
                <a:spcPts val="800"/>
              </a:spcAft>
              <a:defRPr sz="1600"/>
            </a:pPr>
            <a:r>
              <a:t>500-request experiment: stateless engines approve 100% of individually-valid requests</a:t>
            </a:r>
          </a:p>
          <a:p>
            <a:pPr>
              <a:spcAft>
                <a:spcPts val="800"/>
              </a:spcAft>
              <a:defRPr sz="1600"/>
            </a:pPr>
            <a:r>
              <a:t>ACP limits autonomous execution to 2 out of 500 (0.4%)</a:t>
            </a:r>
          </a:p>
          <a:p>
            <a:pPr>
              <a:spcAft>
                <a:spcPts val="800"/>
              </a:spcAft>
              <a:defRPr sz="1600"/>
            </a:pPr>
            <a:r>
              <a:t>Decision latency: 739-832 ns (p50); throughput: 1,720,000 req/s</a:t>
            </a:r>
          </a:p>
          <a:p>
            <a:pPr>
              <a:spcAft>
                <a:spcPts val="800"/>
              </a:spcAft>
              <a:defRPr sz="1600"/>
            </a:pPr>
            <a:r>
              <a:t>TLA+ verified: 11 invariants + 4 temporal properties, 0 violations</a:t>
            </a:r>
          </a:p>
          <a:p>
            <a:pPr>
              <a:spcAft>
                <a:spcPts val="800"/>
              </a:spcAft>
              <a:defRPr sz="1600"/>
            </a:pPr>
            <a:r>
              <a:t>Verified across 4,294,930,695 distinct states</a:t>
            </a:r>
          </a:p>
          <a:p>
            <a:pPr>
              <a:spcAft>
                <a:spcPts val="800"/>
              </a:spcAft>
              <a:defRPr sz="1600"/>
            </a:pPr>
            <a:r>
              <a:t>Paper 1 of 6-paper Agent Governance Series by Marcelo Fernandez</a:t>
            </a:r>
          </a:p>
          <a:p>
            <a:pPr>
              <a:spcAft>
                <a:spcPts val="800"/>
              </a:spcAft>
              <a:defRPr sz="1600"/>
            </a:pPr>
            <a:r>
              <a:t>Go reference implementation: 23 packages, 138 conformance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SkillFortify: Formal Skill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First formal (not heuristic) skill supply chain verification framework</a:t>
            </a:r>
          </a:p>
          <a:p>
            <a:pPr>
              <a:spcAft>
                <a:spcPts val="800"/>
              </a:spcAft>
              <a:defRPr sz="1600"/>
            </a:pPr>
            <a:r>
              <a:t>DY-Skill attacker model: Dolev-Yao adapted to 5-phase skill lifecycle</a:t>
            </a:r>
          </a:p>
          <a:p>
            <a:pPr>
              <a:spcAft>
                <a:spcPts val="800"/>
              </a:spcAft>
              <a:defRPr sz="1600"/>
            </a:pPr>
            <a:r>
              <a:t>Sound static analysis via abstract interpretation; capability confinement proof</a:t>
            </a:r>
          </a:p>
          <a:p>
            <a:pPr>
              <a:spcAft>
                <a:spcPts val="800"/>
              </a:spcAft>
              <a:defRPr sz="1600"/>
            </a:pPr>
            <a:r>
              <a:t>Agent Dependency Graph with SAT-based resolution (&lt;100 ms for 1,000 nodes)</a:t>
            </a:r>
          </a:p>
          <a:p>
            <a:pPr>
              <a:spcAft>
                <a:spcPts val="800"/>
              </a:spcAft>
              <a:defRPr sz="1600"/>
            </a:pPr>
            <a:r>
              <a:t>F1=96.95%, 0% false positive rate on 540-skill benchmark</a:t>
            </a:r>
          </a:p>
          <a:p>
            <a:pPr>
              <a:spcAft>
                <a:spcPts val="800"/>
              </a:spcAft>
              <a:defRPr sz="1600"/>
            </a:pPr>
            <a:r>
              <a:t>Replaces 'no findings does not mean no risk' with mathematical guarantees</a:t>
            </a:r>
          </a:p>
          <a:p>
            <a:pPr>
              <a:spcAft>
                <a:spcPts val="800"/>
              </a:spcAft>
              <a:defRPr sz="1600"/>
            </a:pPr>
            <a:r>
              <a:t>pip install skillfortify | MIT license | https://github.com/varun369/skillfortify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Critical Finding: Benchmarks Are Noise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Taxonomy and Consistency Analysis (2605.16282) catalogs 40 behavioral safety benchmarks</a:t>
            </a:r>
          </a:p>
          <a:p>
            <a:pPr>
              <a:spcAft>
                <a:spcPts val="800"/>
              </a:spcAft>
              <a:defRPr sz="1600"/>
            </a:pPr>
            <a:r>
              <a:t>Six-axis taxonomy applied across all benchmarks</a:t>
            </a:r>
          </a:p>
          <a:p>
            <a:pPr>
              <a:spcAft>
                <a:spcPts val="800"/>
              </a:spcAft>
              <a:defRPr sz="1600"/>
            </a:pPr>
            <a:r>
              <a:t>Coverage matrix reveals broad coverage but limited methodological convergence</a:t>
            </a:r>
          </a:p>
          <a:p>
            <a:pPr>
              <a:spcAft>
                <a:spcPts val="800"/>
              </a:spcAft>
              <a:defRPr sz="1600"/>
            </a:pPr>
            <a:r>
              <a:t>Kendall's W = 0.10, p = 0.94: NO ranking concordance across evaluation dimensions</a:t>
            </a:r>
          </a:p>
          <a:p>
            <a:pPr>
              <a:spcAft>
                <a:spcPts val="800"/>
              </a:spcAft>
              <a:defRPr sz="1600"/>
            </a:pPr>
            <a:r>
              <a:t>Conclusion: benchmark choice can yield contradictory safety conclusions</a:t>
            </a:r>
          </a:p>
          <a:p>
            <a:pPr>
              <a:spcAft>
                <a:spcPts val="800"/>
              </a:spcAft>
              <a:defRPr sz="1600"/>
            </a:pPr>
            <a:r>
              <a:t>Coverage counts often overstate evaluation depth</a:t>
            </a:r>
          </a:p>
          <a:p>
            <a:pPr>
              <a:spcAft>
                <a:spcPts val="800"/>
              </a:spcAft>
              <a:defRPr sz="1600"/>
            </a:pPr>
            <a:r>
              <a:t>Robustness remains effectively unbenchmarked</a:t>
            </a:r>
          </a:p>
          <a:p>
            <a:pPr>
              <a:spcAft>
                <a:spcPts val="800"/>
              </a:spcAft>
              <a:defRPr sz="1600"/>
            </a:pPr>
            <a:r>
              <a:t>Implication: NEVER trust a single benchmark. Use multiple + compare methodological axes.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New Products &amp; 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AgentAssert — Runtime enforcement library implementing ABC contracts (&lt;10 ms overhead)</a:t>
            </a:r>
          </a:p>
          <a:p>
            <a:pPr>
              <a:spcAft>
                <a:spcPts val="800"/>
              </a:spcAft>
              <a:defRPr sz="1600"/>
            </a:pPr>
            <a:r>
              <a:t>SkillFortify — pip install skillfortify | Formal skill supply chain verification</a:t>
            </a:r>
          </a:p>
          <a:p>
            <a:pPr>
              <a:spcAft>
                <a:spcPts val="800"/>
              </a:spcAft>
              <a:defRPr sz="1600"/>
            </a:pPr>
            <a:r>
              <a:t>AgentAssay — pip install agentassay | Token-efficient regression testing for agents</a:t>
            </a:r>
          </a:p>
          <a:p>
            <a:pPr>
              <a:spcAft>
                <a:spcPts val="800"/>
              </a:spcAft>
              <a:defRPr sz="1600"/>
            </a:pPr>
            <a:r>
              <a:t>Agent Control Protocol (ACP) — Go ref implementation, 1.7M req/s, TLA+ verified</a:t>
            </a:r>
          </a:p>
          <a:p>
            <a:pPr>
              <a:spcAft>
                <a:spcPts val="800"/>
              </a:spcAft>
              <a:defRPr sz="1600"/>
            </a:pPr>
            <a:r>
              <a:t>SkillsVote — Skills engine for AI agents (ecosystem infrastructure)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Updated 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Immediate (30 days): Adopt ABC contract structure; deploy SkillFortify in CI/CD</a:t>
            </a:r>
          </a:p>
          <a:p>
            <a:pPr>
              <a:spcAft>
                <a:spcPts val="800"/>
              </a:spcAft>
              <a:defRPr sz="1600"/>
            </a:pPr>
            <a:r>
              <a:t>Short-term (90 days): Deploy AgentAssert runtime enforcement; implement ACP admission control</a:t>
            </a:r>
          </a:p>
          <a:p>
            <a:pPr>
              <a:spcAft>
                <a:spcPts val="800"/>
              </a:spcAft>
              <a:defRPr sz="1600"/>
            </a:pPr>
            <a:r>
              <a:t>Short-term (90 days): Integrate AgentAssay for regression testing; deploy LGA Layer 1 sandboxing</a:t>
            </a:r>
          </a:p>
          <a:p>
            <a:pPr>
              <a:spcAft>
                <a:spcPts val="800"/>
              </a:spcAft>
              <a:defRPr sz="1600"/>
            </a:pPr>
            <a:r>
              <a:t>Strategic (12 months): Full LGA stack; Microsoft-style governance toolkit</a:t>
            </a:r>
          </a:p>
          <a:p>
            <a:pPr>
              <a:spcAft>
                <a:spcPts val="800"/>
              </a:spcAft>
              <a:defRPr sz="1600"/>
            </a:pPr>
            <a:r>
              <a:t>Strategic (12 months): Skill-level attestation per MIGT; benchmark consistency dashboard</a:t>
            </a:r>
          </a:p>
          <a:p>
            <a:pPr>
              <a:spcAft>
                <a:spcPts val="800"/>
              </a:spcAft>
              <a:defRPr sz="1600"/>
            </a:pPr>
            <a:r>
              <a:t>Strategic (12 months): Adopt full Agent Governance Series (6 papers) as formal foundation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The Shift: From Heuristic to Formal Guarantees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The question is no longer 'should we govern agents?' but 'which formal framework first?'</a:t>
            </a:r>
          </a:p>
          <a:p>
            <a:pPr>
              <a:spcAft>
                <a:spcPts val="800"/>
              </a:spcAft>
              <a:defRPr sz="1600"/>
            </a:pPr>
            <a:r>
              <a:t>ABC provides the specification and runtime contract foundation</a:t>
            </a:r>
          </a:p>
          <a:p>
            <a:pPr>
              <a:spcAft>
                <a:spcPts val="800"/>
              </a:spcAft>
              <a:defRPr sz="1600"/>
            </a:pPr>
            <a:r>
              <a:t>AgentVerify proves formal verification of observable control flow is tractable</a:t>
            </a:r>
          </a:p>
          <a:p>
            <a:pPr>
              <a:spcAft>
                <a:spcPts val="800"/>
              </a:spcAft>
              <a:defRPr sz="1600"/>
            </a:pPr>
            <a:r>
              <a:t>SkillFortify replaces heuristic scanning with mathematical guarantees</a:t>
            </a:r>
          </a:p>
          <a:p>
            <a:pPr>
              <a:spcAft>
                <a:spcPts val="800"/>
              </a:spcAft>
              <a:defRPr sz="1600"/>
            </a:pPr>
            <a:r>
              <a:t>AgentAssay makes governance continuous through regression testing</a:t>
            </a:r>
          </a:p>
          <a:p>
            <a:pPr>
              <a:spcAft>
                <a:spcPts val="800"/>
              </a:spcAft>
              <a:defRPr sz="1600"/>
            </a:pPr>
            <a:r>
              <a:t>ACP provides production-ready admission control with 1.7M req/s throughput</a:t>
            </a:r>
          </a:p>
          <a:p>
            <a:pPr>
              <a:spcAft>
                <a:spcPts val="800"/>
              </a:spcAft>
              <a:defRPr sz="1600"/>
            </a:pPr>
            <a:r>
              <a:t>The Agent Governance Series (6 papers) is the most concentrated formal governance program</a:t>
            </a:r>
          </a:p>
          <a:p>
            <a:pPr>
              <a:spcAft>
                <a:spcPts val="800"/>
              </a:spcAft>
              <a:defRPr sz="1600"/>
            </a:pPr>
            <a:r>
              <a:t>Benchmark inconsistency (Kendall's W=0.10) means we need meta-governance, not just more benchmarks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EvaPaper Agent Governance Scout</a:t>
            </a:r>
          </a:p>
          <a:p>
            <a:pPr algn="ctr">
              <a:defRPr sz="2000"/>
            </a:pPr>
            <a:r>
              <a:t>Report compiled June 4, 2026</a:t>
            </a:r>
            <a:br/>
            <a:r>
              <a:t>Repo: github.com/ginaecho/EvaPaper</a:t>
            </a:r>
            <a:br/>
            <a:r>
              <a:t>Commit: 8fb6dce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