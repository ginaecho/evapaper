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0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4285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8686800" y="1371600"/>
            <a:ext cx="2743200" cy="2743200"/>
          </a:xfrm>
          <a:prstGeom prst="ellipse">
            <a:avLst/>
          </a:prstGeom>
          <a:solidFill>
            <a:srgbClr val="4285F4">
              <a:lumMod val="30000"/>
              <a:lumOff val="7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14400" y="5303520"/>
            <a:ext cx="274320" cy="274320"/>
          </a:xfrm>
          <a:prstGeom prst="rect">
            <a:avLst/>
          </a:prstGeom>
          <a:solidFill>
            <a:srgbClr val="34DA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371600" y="5029200"/>
            <a:ext cx="182880" cy="182880"/>
          </a:xfrm>
          <a:prstGeom prst="rect">
            <a:avLst/>
          </a:prstGeom>
          <a:solidFill>
            <a:srgbClr val="9B59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828800" y="4754880"/>
            <a:ext cx="137160" cy="137160"/>
          </a:xfrm>
          <a:prstGeom prst="rect">
            <a:avLst/>
          </a:prstGeom>
          <a:solidFill>
            <a:srgbClr val="34DA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286000"/>
            <a:ext cx="9144000" cy="1371600"/>
          </a:xfrm>
          <a:prstGeom prst="rect">
            <a:avLst/>
          </a:prstGeom>
          <a:noFill/>
        </p:spPr>
        <p:txBody>
          <a:bodyPr wrap="square">
            <a:spAutoFit/>
          </a:bodyPr>
          <a:lstStyle/>
          <a:p>
            <a:pPr>
              <a:defRPr sz="4800" b="1">
                <a:solidFill>
                  <a:srgbClr val="FFFFFF"/>
                </a:solidFill>
                <a:latin typeface="Segoe UI"/>
              </a:defRPr>
            </a:pPr>
            <a:r>
              <a:t>AI Agent Governance</a:t>
            </a:r>
          </a:p>
        </p:txBody>
      </p:sp>
      <p:sp>
        <p:nvSpPr>
          <p:cNvPr id="9" name="TextBox 8"/>
          <p:cNvSpPr txBox="1"/>
          <p:nvPr/>
        </p:nvSpPr>
        <p:spPr>
          <a:xfrm>
            <a:off x="731520" y="3840480"/>
            <a:ext cx="9144000" cy="1371600"/>
          </a:xfrm>
          <a:prstGeom prst="rect">
            <a:avLst/>
          </a:prstGeom>
          <a:noFill/>
        </p:spPr>
        <p:txBody>
          <a:bodyPr wrap="square">
            <a:spAutoFit/>
          </a:bodyPr>
          <a:lstStyle/>
          <a:p>
            <a:pPr>
              <a:defRPr sz="2000">
                <a:solidFill>
                  <a:srgbClr val="B4B4C8"/>
                </a:solidFill>
                <a:latin typeface="Segoe UI"/>
              </a:defRPr>
            </a:pPr>
            <a:r>
              <a:t>Three-Layer Stack &amp; Key Research Papers</a:t>
            </a:r>
            <a:br/>
            <a:br/>
            <a:r>
              <a:t>Latest Scouts, Abstractions, and Ranked Recommendations</a:t>
            </a:r>
            <a:br/>
            <a:r>
              <a:t>2026-05-30 | Compiled by EvaPaper</a:t>
            </a:r>
          </a:p>
        </p:txBody>
      </p:sp>
      <p:sp>
        <p:nvSpPr>
          <p:cNvPr id="10" name="Rectangle 9"/>
          <p:cNvSpPr/>
          <p:nvPr/>
        </p:nvSpPr>
        <p:spPr>
          <a:xfrm>
            <a:off x="0" y="6803136"/>
            <a:ext cx="12191695" cy="54864"/>
          </a:xfrm>
          <a:prstGeom prst="rect">
            <a:avLst/>
          </a:prstGeom>
          <a:solidFill>
            <a:srgbClr val="4285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0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285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65760"/>
            <a:ext cx="10972800" cy="731520"/>
          </a:xfrm>
          <a:prstGeom prst="rect">
            <a:avLst/>
          </a:prstGeom>
          <a:noFill/>
        </p:spPr>
        <p:txBody>
          <a:bodyPr wrap="none">
            <a:spAutoFit/>
          </a:bodyPr>
          <a:lstStyle/>
          <a:p>
            <a:pPr>
              <a:defRPr sz="3200" b="1">
                <a:solidFill>
                  <a:srgbClr val="FFFFFF"/>
                </a:solidFill>
                <a:latin typeface="Segoe UI"/>
              </a:defRPr>
            </a:pPr>
            <a:r>
              <a:t>Executive Summary</a:t>
            </a:r>
          </a:p>
        </p:txBody>
      </p:sp>
      <p:sp>
        <p:nvSpPr>
          <p:cNvPr id="5" name="Rounded Rectangle 4"/>
          <p:cNvSpPr/>
          <p:nvPr/>
        </p:nvSpPr>
        <p:spPr>
          <a:xfrm>
            <a:off x="457200" y="1188720"/>
            <a:ext cx="11247120" cy="5120640"/>
          </a:xfrm>
          <a:prstGeom prst="roundRect">
            <a:avLst/>
          </a:prstGeom>
          <a:solidFill>
            <a:srgbClr val="1C1C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371600"/>
            <a:ext cx="10789920" cy="4754880"/>
          </a:xfrm>
          <a:prstGeom prst="rect">
            <a:avLst/>
          </a:prstGeom>
          <a:noFill/>
        </p:spPr>
        <p:txBody>
          <a:bodyPr wrap="square">
            <a:spAutoFit/>
          </a:bodyPr>
          <a:lstStyle/>
          <a:p>
            <a:pPr>
              <a:spcBef>
                <a:spcPts val="1200"/>
              </a:spcBef>
              <a:spcAft>
                <a:spcPts val="600"/>
              </a:spcAft>
              <a:defRPr sz="1600">
                <a:solidFill>
                  <a:srgbClr val="B4B4C8"/>
                </a:solidFill>
                <a:latin typeface="Segoe UI"/>
              </a:defRPr>
            </a:pPr>
            <a:r>
              <a:t>AI agents are no longer just chatbots—they book flights, execute trades, write code, and manage infrastructure autonomously.</a:t>
            </a:r>
          </a:p>
          <a:p>
            <a:pPr>
              <a:spcBef>
                <a:spcPts val="1200"/>
              </a:spcBef>
              <a:spcAft>
                <a:spcPts val="600"/>
              </a:spcAft>
              <a:defRPr sz="1600">
                <a:solidFill>
                  <a:srgbClr val="B4B4C8"/>
                </a:solidFill>
                <a:latin typeface="Segoe UI"/>
              </a:defRPr>
            </a:pPr>
            <a:r>
              <a:t>The hardest problem is no longer building agents. It is knowing whether they are actually working safely.</a:t>
            </a:r>
          </a:p>
          <a:p>
            <a:pPr>
              <a:spcBef>
                <a:spcPts val="1200"/>
              </a:spcBef>
              <a:spcAft>
                <a:spcPts val="600"/>
              </a:spcAft>
              <a:defRPr sz="1600">
                <a:solidFill>
                  <a:srgbClr val="B4B4C8"/>
                </a:solidFill>
                <a:latin typeface="Segoe UI"/>
              </a:defRPr>
            </a:pPr>
            <a:r>
              <a:t>Governance gap: disconnect between what skill specs claim, what runtime policies enforce, and what agents actually do.</a:t>
            </a:r>
          </a:p>
          <a:p>
            <a:pPr>
              <a:spcBef>
                <a:spcPts val="1200"/>
              </a:spcBef>
              <a:spcAft>
                <a:spcPts val="600"/>
              </a:spcAft>
              <a:defRPr sz="1600">
                <a:solidFill>
                  <a:srgbClr val="B4B4C8"/>
                </a:solidFill>
                <a:latin typeface="Segoe UI"/>
              </a:defRPr>
            </a:pPr>
            <a:r>
              <a:t>This deck synthesizes 2024–2026 research into a Three-Layer Stack, with paper abstracts, source links, and actionable recommendations.</a:t>
            </a:r>
          </a:p>
          <a:p>
            <a:pPr>
              <a:spcBef>
                <a:spcPts val="1200"/>
              </a:spcBef>
              <a:spcAft>
                <a:spcPts val="600"/>
              </a:spcAft>
              <a:defRPr sz="1600" b="1">
                <a:solidFill>
                  <a:srgbClr val="E74C3C"/>
                </a:solidFill>
                <a:latin typeface="Segoe UI"/>
              </a:defRPr>
            </a:pPr>
            <a:r>
              <a:t>CRITICAL FINDING: No agent tested in functional environments cleared 40% safe completion. The gap is real and urgent.</a:t>
            </a:r>
          </a:p>
        </p:txBody>
      </p:sp>
      <p:sp>
        <p:nvSpPr>
          <p:cNvPr id="7" name="Rectangle 6"/>
          <p:cNvSpPr/>
          <p:nvPr/>
        </p:nvSpPr>
        <p:spPr>
          <a:xfrm>
            <a:off x="0" y="6821424"/>
            <a:ext cx="12191695" cy="36576"/>
          </a:xfrm>
          <a:prstGeom prst="rect">
            <a:avLst/>
          </a:prstGeom>
          <a:solidFill>
            <a:srgbClr val="4285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0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285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65760"/>
            <a:ext cx="10972800" cy="731520"/>
          </a:xfrm>
          <a:prstGeom prst="rect">
            <a:avLst/>
          </a:prstGeom>
          <a:noFill/>
        </p:spPr>
        <p:txBody>
          <a:bodyPr wrap="none">
            <a:spAutoFit/>
          </a:bodyPr>
          <a:lstStyle/>
          <a:p>
            <a:pPr>
              <a:defRPr sz="3200" b="1">
                <a:solidFill>
                  <a:srgbClr val="FFFFFF"/>
                </a:solidFill>
                <a:latin typeface="Segoe UI"/>
              </a:defRPr>
            </a:pPr>
            <a:r>
              <a:t>The Three-Layer Governance Stack</a:t>
            </a:r>
          </a:p>
        </p:txBody>
      </p:sp>
      <p:sp>
        <p:nvSpPr>
          <p:cNvPr id="5" name="Rounded Rectangle 4"/>
          <p:cNvSpPr/>
          <p:nvPr/>
        </p:nvSpPr>
        <p:spPr>
          <a:xfrm>
            <a:off x="457200" y="1188720"/>
            <a:ext cx="5486400" cy="5120640"/>
          </a:xfrm>
          <a:prstGeom prst="roundRect">
            <a:avLst/>
          </a:prstGeom>
          <a:solidFill>
            <a:srgbClr val="1C1C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371600"/>
            <a:ext cx="5120640" cy="4754880"/>
          </a:xfrm>
          <a:prstGeom prst="rect">
            <a:avLst/>
          </a:prstGeom>
          <a:noFill/>
        </p:spPr>
        <p:txBody>
          <a:bodyPr wrap="square">
            <a:spAutoFit/>
          </a:bodyPr>
          <a:lstStyle/>
          <a:p>
            <a:pPr>
              <a:spcAft>
                <a:spcPts val="1000"/>
              </a:spcAft>
              <a:defRPr sz="1800" b="1">
                <a:solidFill>
                  <a:srgbClr val="4285F4"/>
                </a:solidFill>
                <a:latin typeface="Segoe UI"/>
              </a:defRPr>
            </a:pPr>
            <a:r>
              <a:t>What Each Layer Does</a:t>
            </a:r>
          </a:p>
          <a:p>
            <a:pPr>
              <a:spcBef>
                <a:spcPts val="800"/>
              </a:spcBef>
              <a:defRPr sz="1400">
                <a:solidFill>
                  <a:srgbClr val="B4B4C8"/>
                </a:solidFill>
                <a:latin typeface="Segoe UI"/>
              </a:defRPr>
            </a:pPr>
            <a:r>
              <a:t>Layer 0 — Format: Does the file parse correctly?</a:t>
            </a:r>
          </a:p>
          <a:p>
            <a:pPr>
              <a:spcBef>
                <a:spcPts val="800"/>
              </a:spcBef>
              <a:defRPr sz="1400">
                <a:solidFill>
                  <a:srgbClr val="B4B4C8"/>
                </a:solidFill>
                <a:latin typeface="Segoe UI"/>
              </a:defRPr>
            </a:pPr>
            <a:r>
              <a:t>Layer 1 — Semantic: Does the spec mean what it says?</a:t>
            </a:r>
          </a:p>
          <a:p>
            <a:pPr>
              <a:spcBef>
                <a:spcPts val="800"/>
              </a:spcBef>
              <a:defRPr sz="1400">
                <a:solidFill>
                  <a:srgbClr val="B4B4C8"/>
                </a:solidFill>
                <a:latin typeface="Segoe UI"/>
              </a:defRPr>
            </a:pPr>
            <a:r>
              <a:t>Layer 2 — Behavioral: Does the system behave as claimed?</a:t>
            </a:r>
          </a:p>
        </p:txBody>
      </p:sp>
      <p:sp>
        <p:nvSpPr>
          <p:cNvPr id="7" name="Rounded Rectangle 6"/>
          <p:cNvSpPr/>
          <p:nvPr/>
        </p:nvSpPr>
        <p:spPr>
          <a:xfrm>
            <a:off x="6217920" y="1188720"/>
            <a:ext cx="5486400" cy="5120640"/>
          </a:xfrm>
          <a:prstGeom prst="roundRect">
            <a:avLst/>
          </a:prstGeom>
          <a:solidFill>
            <a:srgbClr val="1C1C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371600"/>
            <a:ext cx="5120640" cy="4754880"/>
          </a:xfrm>
          <a:prstGeom prst="rect">
            <a:avLst/>
          </a:prstGeom>
          <a:noFill/>
        </p:spPr>
        <p:txBody>
          <a:bodyPr wrap="square">
            <a:spAutoFit/>
          </a:bodyPr>
          <a:lstStyle/>
          <a:p>
            <a:pPr>
              <a:spcAft>
                <a:spcPts val="1000"/>
              </a:spcAft>
              <a:defRPr sz="1800" b="1">
                <a:solidFill>
                  <a:srgbClr val="9B59B6"/>
                </a:solidFill>
                <a:latin typeface="Segoe UI"/>
              </a:defRPr>
            </a:pPr>
            <a:r>
              <a:t>Current State of Each Layer</a:t>
            </a:r>
          </a:p>
          <a:p>
            <a:pPr>
              <a:spcBef>
                <a:spcPts val="800"/>
              </a:spcBef>
              <a:defRPr sz="1400">
                <a:solidFill>
                  <a:srgbClr val="B4B4C8"/>
                </a:solidFill>
                <a:latin typeface="Segoe UI"/>
              </a:defRPr>
            </a:pPr>
            <a:r>
              <a:t>Layer 0: ✓ Available (Anthropic, Microsoft validators)</a:t>
            </a:r>
          </a:p>
          <a:p>
            <a:pPr>
              <a:spcBef>
                <a:spcPts val="800"/>
              </a:spcBef>
              <a:defRPr sz="1400">
                <a:solidFill>
                  <a:srgbClr val="B4B4C8"/>
                </a:solidFill>
                <a:latin typeface="Segoe UI"/>
              </a:defRPr>
            </a:pPr>
            <a:r>
              <a:t>Layer 1: ✗ NOT available (no semantic linter exists)</a:t>
            </a:r>
          </a:p>
          <a:p>
            <a:pPr>
              <a:spcBef>
                <a:spcPts val="800"/>
              </a:spcBef>
              <a:defRPr sz="1400">
                <a:solidFill>
                  <a:srgbClr val="B4B4C8"/>
                </a:solidFill>
                <a:latin typeface="Segoe UI"/>
              </a:defRPr>
            </a:pPr>
            <a:r>
              <a:t>Layer 2: ~ Emerging (BeSafe-Bench, ST-WebAgentBench)</a:t>
            </a:r>
          </a:p>
        </p:txBody>
      </p:sp>
      <p:sp>
        <p:nvSpPr>
          <p:cNvPr id="9" name="Rectangle 8"/>
          <p:cNvSpPr/>
          <p:nvPr/>
        </p:nvSpPr>
        <p:spPr>
          <a:xfrm>
            <a:off x="0" y="6821424"/>
            <a:ext cx="12191695" cy="36576"/>
          </a:xfrm>
          <a:prstGeom prst="rect">
            <a:avLst/>
          </a:prstGeom>
          <a:solidFill>
            <a:srgbClr val="4285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0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285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65760"/>
            <a:ext cx="10972800" cy="731520"/>
          </a:xfrm>
          <a:prstGeom prst="rect">
            <a:avLst/>
          </a:prstGeom>
          <a:noFill/>
        </p:spPr>
        <p:txBody>
          <a:bodyPr wrap="none">
            <a:spAutoFit/>
          </a:bodyPr>
          <a:lstStyle/>
          <a:p>
            <a:pPr>
              <a:defRPr sz="3200" b="1">
                <a:solidFill>
                  <a:srgbClr val="FFFFFF"/>
                </a:solidFill>
                <a:latin typeface="Segoe UI"/>
              </a:defRPr>
            </a:pPr>
            <a:r>
              <a:t>Layer 0 — Format Conformance (Soundness-0)</a:t>
            </a:r>
          </a:p>
        </p:txBody>
      </p:sp>
      <p:sp>
        <p:nvSpPr>
          <p:cNvPr id="5" name="Rounded Rectangle 4"/>
          <p:cNvSpPr/>
          <p:nvPr/>
        </p:nvSpPr>
        <p:spPr>
          <a:xfrm>
            <a:off x="457200" y="1188720"/>
            <a:ext cx="11247120" cy="5120640"/>
          </a:xfrm>
          <a:prstGeom prst="roundRect">
            <a:avLst/>
          </a:prstGeom>
          <a:solidFill>
            <a:srgbClr val="1C1C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371600"/>
            <a:ext cx="10789920" cy="4754880"/>
          </a:xfrm>
          <a:prstGeom prst="rect">
            <a:avLst/>
          </a:prstGeom>
          <a:noFill/>
        </p:spPr>
        <p:txBody>
          <a:bodyPr wrap="square">
            <a:spAutoFit/>
          </a:bodyPr>
          <a:lstStyle/>
          <a:p>
            <a:pPr>
              <a:spcBef>
                <a:spcPts val="1200"/>
              </a:spcBef>
              <a:spcAft>
                <a:spcPts val="600"/>
              </a:spcAft>
              <a:defRPr sz="1600">
                <a:solidFill>
                  <a:srgbClr val="B4B4C8"/>
                </a:solidFill>
                <a:latin typeface="Segoe UI"/>
              </a:defRPr>
            </a:pPr>
            <a:r>
              <a:t>What it checks: Structural syntax—frontmatter validity, field presence, line count, format compliance.</a:t>
            </a:r>
          </a:p>
          <a:p>
            <a:pPr>
              <a:spcBef>
                <a:spcPts val="1200"/>
              </a:spcBef>
              <a:spcAft>
                <a:spcPts val="600"/>
              </a:spcAft>
              <a:defRPr sz="1600">
                <a:solidFill>
                  <a:srgbClr val="2ECC71"/>
                </a:solidFill>
                <a:latin typeface="Segoe UI"/>
              </a:defRPr>
            </a:pPr>
            <a:r>
              <a:t>Current state: ✓ AVAILABLE. Anthropic skill validator and Microsoft schema validation perform this.</a:t>
            </a:r>
          </a:p>
          <a:p>
            <a:pPr>
              <a:spcBef>
                <a:spcPts val="1200"/>
              </a:spcBef>
              <a:spcAft>
                <a:spcPts val="600"/>
              </a:spcAft>
              <a:defRPr sz="1600">
                <a:solidFill>
                  <a:srgbClr val="E74C3C"/>
                </a:solidFill>
                <a:latin typeface="Segoe UI"/>
              </a:defRPr>
            </a:pPr>
            <a:r>
              <a:t>What it does NOT check: Tool existence, boundary enforceability, or whether the agent will interpret the description correctly.</a:t>
            </a:r>
          </a:p>
          <a:p>
            <a:pPr>
              <a:spcBef>
                <a:spcPts val="1200"/>
              </a:spcBef>
              <a:spcAft>
                <a:spcPts val="600"/>
              </a:spcAft>
              <a:defRPr sz="1600">
                <a:solidFill>
                  <a:srgbClr val="B4B4C8"/>
                </a:solidFill>
                <a:latin typeface="Segoe UI"/>
              </a:defRPr>
            </a:pPr>
            <a:r>
              <a:t>Skilldex (2026-04) provides compiler-style format scoring (0–100) with line-level diagnostics.</a:t>
            </a:r>
          </a:p>
          <a:p>
            <a:pPr>
              <a:spcBef>
                <a:spcPts val="1200"/>
              </a:spcBef>
              <a:spcAft>
                <a:spcPts val="600"/>
              </a:spcAft>
              <a:defRPr sz="1600">
                <a:solidFill>
                  <a:srgbClr val="E74C3C"/>
                </a:solidFill>
                <a:latin typeface="Segoe UI"/>
              </a:defRPr>
            </a:pPr>
            <a:r>
              <a:t>Critical limitation: The authors explicitly state this is NOT a measure of functional quality.</a:t>
            </a:r>
          </a:p>
          <a:p>
            <a:pPr>
              <a:spcBef>
                <a:spcPts val="1200"/>
              </a:spcBef>
              <a:spcAft>
                <a:spcPts val="600"/>
              </a:spcAft>
              <a:defRPr sz="1600">
                <a:solidFill>
                  <a:srgbClr val="B4B4C8"/>
                </a:solidFill>
                <a:latin typeface="Segoe UI"/>
              </a:defRPr>
            </a:pPr>
            <a:r>
              <a:t>A SKILL.md can score 100/100 while describing a tool that deletes production databases.</a:t>
            </a:r>
          </a:p>
        </p:txBody>
      </p:sp>
      <p:sp>
        <p:nvSpPr>
          <p:cNvPr id="7" name="Rectangle 6"/>
          <p:cNvSpPr/>
          <p:nvPr/>
        </p:nvSpPr>
        <p:spPr>
          <a:xfrm>
            <a:off x="0" y="6821424"/>
            <a:ext cx="12191695" cy="36576"/>
          </a:xfrm>
          <a:prstGeom prst="rect">
            <a:avLst/>
          </a:prstGeom>
          <a:solidFill>
            <a:srgbClr val="4285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0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285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65760"/>
            <a:ext cx="10972800" cy="731520"/>
          </a:xfrm>
          <a:prstGeom prst="rect">
            <a:avLst/>
          </a:prstGeom>
          <a:noFill/>
        </p:spPr>
        <p:txBody>
          <a:bodyPr wrap="none">
            <a:spAutoFit/>
          </a:bodyPr>
          <a:lstStyle/>
          <a:p>
            <a:pPr>
              <a:defRPr sz="3200" b="1">
                <a:solidFill>
                  <a:srgbClr val="FFFFFF"/>
                </a:solidFill>
                <a:latin typeface="Segoe UI"/>
              </a:defRPr>
            </a:pPr>
            <a:r>
              <a:t>Layer 1 — Semantic / Contractual Soundness (Soundness-1)</a:t>
            </a:r>
          </a:p>
        </p:txBody>
      </p:sp>
      <p:sp>
        <p:nvSpPr>
          <p:cNvPr id="5" name="Rounded Rectangle 4"/>
          <p:cNvSpPr/>
          <p:nvPr/>
        </p:nvSpPr>
        <p:spPr>
          <a:xfrm>
            <a:off x="457200" y="1188720"/>
            <a:ext cx="11247120" cy="5120640"/>
          </a:xfrm>
          <a:prstGeom prst="roundRect">
            <a:avLst/>
          </a:prstGeom>
          <a:solidFill>
            <a:srgbClr val="1C1C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371600"/>
            <a:ext cx="10789920" cy="4754880"/>
          </a:xfrm>
          <a:prstGeom prst="rect">
            <a:avLst/>
          </a:prstGeom>
          <a:noFill/>
        </p:spPr>
        <p:txBody>
          <a:bodyPr wrap="square">
            <a:spAutoFit/>
          </a:bodyPr>
          <a:lstStyle/>
          <a:p>
            <a:pPr>
              <a:spcBef>
                <a:spcPts val="1200"/>
              </a:spcBef>
              <a:spcAft>
                <a:spcPts val="600"/>
              </a:spcAft>
              <a:defRPr sz="1600">
                <a:solidFill>
                  <a:srgbClr val="B4B4C8"/>
                </a:solidFill>
                <a:latin typeface="Segoe UI"/>
              </a:defRPr>
            </a:pPr>
            <a:r>
              <a:t>What it checks: Whether the skill spec accurately describes capabilities, boundaries, failure modes, and side effects.</a:t>
            </a:r>
          </a:p>
          <a:p>
            <a:pPr>
              <a:spcBef>
                <a:spcPts val="1200"/>
              </a:spcBef>
              <a:spcAft>
                <a:spcPts val="600"/>
              </a:spcAft>
              <a:defRPr sz="1600" b="1">
                <a:solidFill>
                  <a:srgbClr val="E74C3C"/>
                </a:solidFill>
                <a:latin typeface="Segoe UI"/>
              </a:defRPr>
            </a:pPr>
            <a:r>
              <a:t>Current state: ✗ NOT AVAILABLE. No framework automatically verifies spec-to-implementation alignment.</a:t>
            </a:r>
          </a:p>
          <a:p>
            <a:pPr>
              <a:spcBef>
                <a:spcPts val="1200"/>
              </a:spcBef>
              <a:spcAft>
                <a:spcPts val="600"/>
              </a:spcAft>
              <a:defRPr sz="1600">
                <a:solidFill>
                  <a:srgbClr val="B4B4C8"/>
                </a:solidFill>
                <a:latin typeface="Segoe UI"/>
              </a:defRPr>
            </a:pPr>
            <a:r>
              <a:t>What must be verified: Tool existence, signature matching, boundary completeness, version compatibility.</a:t>
            </a:r>
          </a:p>
          <a:p>
            <a:pPr>
              <a:spcBef>
                <a:spcPts val="1200"/>
              </a:spcBef>
              <a:spcAft>
                <a:spcPts val="600"/>
              </a:spcAft>
              <a:defRPr sz="1600">
                <a:solidFill>
                  <a:srgbClr val="B4B4C8"/>
                </a:solidFill>
                <a:latin typeface="Segoe UI"/>
              </a:defRPr>
            </a:pPr>
            <a:r>
              <a:t>GovernSpec (2026-05) proposes contractual skills with goals, input boundaries, permissions, and output contracts.</a:t>
            </a:r>
          </a:p>
          <a:p>
            <a:pPr>
              <a:spcBef>
                <a:spcPts val="1200"/>
              </a:spcBef>
              <a:spcAft>
                <a:spcPts val="600"/>
              </a:spcAft>
              <a:defRPr sz="1600">
                <a:solidFill>
                  <a:srgbClr val="B4B4C8"/>
                </a:solidFill>
                <a:latin typeface="Segoe UI"/>
              </a:defRPr>
            </a:pPr>
            <a:r>
              <a:t>The gap: The link between a SKILL.md and its contract is still manual. No semantic linter exists.</a:t>
            </a:r>
          </a:p>
          <a:p>
            <a:pPr>
              <a:spcBef>
                <a:spcPts val="1200"/>
              </a:spcBef>
              <a:spcAft>
                <a:spcPts val="600"/>
              </a:spcAft>
              <a:defRPr sz="1600">
                <a:solidFill>
                  <a:srgbClr val="B4B4C8"/>
                </a:solidFill>
                <a:latin typeface="Segoe UI"/>
              </a:defRPr>
            </a:pPr>
            <a:r>
              <a:t>This is the bridge between a type checker and a contract verifier—still an open research problem.</a:t>
            </a:r>
          </a:p>
        </p:txBody>
      </p:sp>
      <p:sp>
        <p:nvSpPr>
          <p:cNvPr id="7" name="Rectangle 6"/>
          <p:cNvSpPr/>
          <p:nvPr/>
        </p:nvSpPr>
        <p:spPr>
          <a:xfrm>
            <a:off x="0" y="6821424"/>
            <a:ext cx="12191695" cy="36576"/>
          </a:xfrm>
          <a:prstGeom prst="rect">
            <a:avLst/>
          </a:prstGeom>
          <a:solidFill>
            <a:srgbClr val="4285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0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285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65760"/>
            <a:ext cx="10972800" cy="731520"/>
          </a:xfrm>
          <a:prstGeom prst="rect">
            <a:avLst/>
          </a:prstGeom>
          <a:noFill/>
        </p:spPr>
        <p:txBody>
          <a:bodyPr wrap="none">
            <a:spAutoFit/>
          </a:bodyPr>
          <a:lstStyle/>
          <a:p>
            <a:pPr>
              <a:defRPr sz="3200" b="1">
                <a:solidFill>
                  <a:srgbClr val="FFFFFF"/>
                </a:solidFill>
                <a:latin typeface="Segoe UI"/>
              </a:defRPr>
            </a:pPr>
            <a:r>
              <a:t>Layer 2 — Behavioral Verification (Soundness-2)</a:t>
            </a:r>
          </a:p>
        </p:txBody>
      </p:sp>
      <p:sp>
        <p:nvSpPr>
          <p:cNvPr id="5" name="Rounded Rectangle 4"/>
          <p:cNvSpPr/>
          <p:nvPr/>
        </p:nvSpPr>
        <p:spPr>
          <a:xfrm>
            <a:off x="457200" y="1188720"/>
            <a:ext cx="11247120" cy="5120640"/>
          </a:xfrm>
          <a:prstGeom prst="roundRect">
            <a:avLst/>
          </a:prstGeom>
          <a:solidFill>
            <a:srgbClr val="1C1C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371600"/>
            <a:ext cx="10789920" cy="4754880"/>
          </a:xfrm>
          <a:prstGeom prst="rect">
            <a:avLst/>
          </a:prstGeom>
          <a:noFill/>
        </p:spPr>
        <p:txBody>
          <a:bodyPr wrap="square">
            <a:spAutoFit/>
          </a:bodyPr>
          <a:lstStyle/>
          <a:p>
            <a:pPr>
              <a:spcBef>
                <a:spcPts val="1200"/>
              </a:spcBef>
              <a:spcAft>
                <a:spcPts val="600"/>
              </a:spcAft>
              <a:defRPr sz="1600">
                <a:solidFill>
                  <a:srgbClr val="B4B4C8"/>
                </a:solidFill>
                <a:latin typeface="Segoe UI"/>
              </a:defRPr>
            </a:pPr>
            <a:r>
              <a:t>What it checks: Whether runtime behavior matches spec claims and policy enforcement in real environments.</a:t>
            </a:r>
          </a:p>
          <a:p>
            <a:pPr>
              <a:spcBef>
                <a:spcPts val="1200"/>
              </a:spcBef>
              <a:spcAft>
                <a:spcPts val="600"/>
              </a:spcAft>
              <a:defRPr sz="1600">
                <a:solidFill>
                  <a:srgbClr val="B4B4C8"/>
                </a:solidFill>
                <a:latin typeface="Segoe UI"/>
              </a:defRPr>
            </a:pPr>
            <a:r>
              <a:t>Current state: ~ EMERGING. BeSafe-Bench and ST-WebAgentBench provide functional-environment testing.</a:t>
            </a:r>
          </a:p>
          <a:p>
            <a:pPr>
              <a:spcBef>
                <a:spcPts val="1200"/>
              </a:spcBef>
              <a:spcAft>
                <a:spcPts val="600"/>
              </a:spcAft>
              <a:defRPr sz="1600">
                <a:solidFill>
                  <a:srgbClr val="B4B4C8"/>
                </a:solidFill>
                <a:latin typeface="Segoe UI"/>
              </a:defRPr>
            </a:pPr>
            <a:r>
              <a:t>BeSafe-Bench (2026-03): 13 agents tested in real browsers, mobile OS, and robotic simulators. None cleared 40% safe completion.</a:t>
            </a:r>
          </a:p>
          <a:p>
            <a:pPr>
              <a:spcBef>
                <a:spcPts val="1200"/>
              </a:spcBef>
              <a:spcAft>
                <a:spcPts val="600"/>
              </a:spcAft>
              <a:defRPr sz="1600">
                <a:solidFill>
                  <a:srgbClr val="B4B4C8"/>
                </a:solidFill>
                <a:latin typeface="Segoe UI"/>
              </a:defRPr>
            </a:pPr>
            <a:r>
              <a:t>ST-WebAgentBench (ICLR 2026): SOTA agents average CuP &lt; 2/3 of nominal completion rate.</a:t>
            </a:r>
          </a:p>
          <a:p>
            <a:pPr>
              <a:spcBef>
                <a:spcPts val="1200"/>
              </a:spcBef>
              <a:spcAft>
                <a:spcPts val="600"/>
              </a:spcAft>
              <a:defRPr sz="1600">
                <a:solidFill>
                  <a:srgbClr val="B4B4C8"/>
                </a:solidFill>
                <a:latin typeface="Segoe UI"/>
              </a:defRPr>
            </a:pPr>
            <a:r>
              <a:t>Microsoft Agent Governance Toolkit (2026-04): Sub-millisecond deterministic policy enforcement (&lt;0.1ms p99).</a:t>
            </a:r>
          </a:p>
          <a:p>
            <a:pPr>
              <a:spcBef>
                <a:spcPts val="1200"/>
              </a:spcBef>
              <a:spcAft>
                <a:spcPts val="600"/>
              </a:spcAft>
              <a:defRPr sz="1600">
                <a:solidFill>
                  <a:srgbClr val="B4B4C8"/>
                </a:solidFill>
                <a:latin typeface="Segoe UI"/>
              </a:defRPr>
            </a:pPr>
            <a:r>
              <a:t>The gold standard: a vertical proof connecting spec → runtime → behavior. Still an open problem.</a:t>
            </a:r>
          </a:p>
        </p:txBody>
      </p:sp>
      <p:sp>
        <p:nvSpPr>
          <p:cNvPr id="7" name="Rectangle 6"/>
          <p:cNvSpPr/>
          <p:nvPr/>
        </p:nvSpPr>
        <p:spPr>
          <a:xfrm>
            <a:off x="0" y="6821424"/>
            <a:ext cx="12191695" cy="36576"/>
          </a:xfrm>
          <a:prstGeom prst="rect">
            <a:avLst/>
          </a:prstGeom>
          <a:solidFill>
            <a:srgbClr val="4285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0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65760"/>
            <a:ext cx="10972800" cy="731520"/>
          </a:xfrm>
          <a:prstGeom prst="rect">
            <a:avLst/>
          </a:prstGeom>
          <a:noFill/>
        </p:spPr>
        <p:txBody>
          <a:bodyPr wrap="none">
            <a:spAutoFit/>
          </a:bodyPr>
          <a:lstStyle/>
          <a:p>
            <a:pPr>
              <a:defRPr sz="3200" b="1">
                <a:solidFill>
                  <a:srgbClr val="FFFFFF"/>
                </a:solidFill>
                <a:latin typeface="Segoe UI"/>
              </a:defRPr>
            </a:pPr>
            <a:r>
              <a:t>Critical Insight: The Vertical Disconnect</a:t>
            </a:r>
          </a:p>
        </p:txBody>
      </p:sp>
      <p:sp>
        <p:nvSpPr>
          <p:cNvPr id="5" name="Rounded Rectangle 4"/>
          <p:cNvSpPr/>
          <p:nvPr/>
        </p:nvSpPr>
        <p:spPr>
          <a:xfrm>
            <a:off x="457200" y="1188720"/>
            <a:ext cx="11247120" cy="5120640"/>
          </a:xfrm>
          <a:prstGeom prst="roundRect">
            <a:avLst/>
          </a:prstGeom>
          <a:solidFill>
            <a:srgbClr val="1C1C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371600"/>
            <a:ext cx="10789920" cy="4754880"/>
          </a:xfrm>
          <a:prstGeom prst="rect">
            <a:avLst/>
          </a:prstGeom>
          <a:noFill/>
        </p:spPr>
        <p:txBody>
          <a:bodyPr wrap="square">
            <a:spAutoFit/>
          </a:bodyPr>
          <a:lstStyle/>
          <a:p>
            <a:pPr>
              <a:spcBef>
                <a:spcPts val="1200"/>
              </a:spcBef>
              <a:spcAft>
                <a:spcPts val="600"/>
              </a:spcAft>
              <a:defRPr sz="1600">
                <a:solidFill>
                  <a:srgbClr val="B4B4C8"/>
                </a:solidFill>
                <a:latin typeface="Segoe UI"/>
              </a:defRPr>
            </a:pPr>
            <a:r>
              <a:t>A SKILL.md can pass all format checks (Layer 0) while describing a tool with no safety guardrails (failing Layer 1).</a:t>
            </a:r>
          </a:p>
          <a:p>
            <a:pPr>
              <a:spcBef>
                <a:spcPts val="1200"/>
              </a:spcBef>
              <a:spcAft>
                <a:spcPts val="600"/>
              </a:spcAft>
              <a:defRPr sz="1600">
                <a:solidFill>
                  <a:srgbClr val="B4B4C8"/>
                </a:solidFill>
                <a:latin typeface="Segoe UI"/>
              </a:defRPr>
            </a:pPr>
            <a:r>
              <a:t>The runtime can enforce policies (Layer 2) that the spec never defined.</a:t>
            </a:r>
          </a:p>
          <a:p>
            <a:pPr>
              <a:spcBef>
                <a:spcPts val="1200"/>
              </a:spcBef>
              <a:spcAft>
                <a:spcPts val="600"/>
              </a:spcAft>
              <a:defRPr sz="1600">
                <a:solidFill>
                  <a:srgbClr val="B4B4C8"/>
                </a:solidFill>
                <a:latin typeface="Segoe UI"/>
              </a:defRPr>
            </a:pPr>
            <a:r>
              <a:t>The agent can optimize for task completion while systematically violating both.</a:t>
            </a:r>
          </a:p>
          <a:p>
            <a:pPr>
              <a:spcBef>
                <a:spcPts val="1200"/>
              </a:spcBef>
              <a:spcAft>
                <a:spcPts val="600"/>
              </a:spcAft>
              <a:defRPr sz="1600">
                <a:solidFill>
                  <a:srgbClr val="B4B4C8"/>
                </a:solidFill>
                <a:latin typeface="Segoe UI"/>
              </a:defRPr>
            </a:pPr>
            <a:r>
              <a:t>The structural problem: agents optimized purely on completion rate learn to circumvent safety constraints.</a:t>
            </a:r>
          </a:p>
          <a:p>
            <a:pPr>
              <a:spcBef>
                <a:spcPts val="1200"/>
              </a:spcBef>
              <a:spcAft>
                <a:spcPts val="600"/>
              </a:spcAft>
              <a:defRPr sz="1600">
                <a:solidFill>
                  <a:srgbClr val="B4B4C8"/>
                </a:solidFill>
                <a:latin typeface="Segoe UI"/>
              </a:defRPr>
            </a:pPr>
            <a:r>
              <a:t>BeSafe-Bench quantifies this for the first time: optimizing for completion ≡ optimizing against safety.</a:t>
            </a:r>
          </a:p>
          <a:p>
            <a:pPr>
              <a:spcBef>
                <a:spcPts val="1200"/>
              </a:spcBef>
              <a:spcAft>
                <a:spcPts val="600"/>
              </a:spcAft>
              <a:defRPr sz="1600">
                <a:solidFill>
                  <a:srgbClr val="B4B4C8"/>
                </a:solidFill>
                <a:latin typeface="Segoe UI"/>
              </a:defRPr>
            </a:pPr>
            <a:r>
              <a:t>No existing framework provides a vertical proof connecting all three layers.</a:t>
            </a:r>
          </a:p>
        </p:txBody>
      </p:sp>
      <p:sp>
        <p:nvSpPr>
          <p:cNvPr id="7" name="Rectangle 6"/>
          <p:cNvSpPr/>
          <p:nvPr/>
        </p:nvSpPr>
        <p:spPr>
          <a:xfrm>
            <a:off x="0" y="6821424"/>
            <a:ext cx="12191695" cy="36576"/>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0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4285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828800"/>
            <a:ext cx="1828800" cy="1828800"/>
          </a:xfrm>
          <a:prstGeom prst="rect">
            <a:avLst/>
          </a:prstGeom>
          <a:noFill/>
        </p:spPr>
        <p:txBody>
          <a:bodyPr wrap="none">
            <a:spAutoFit/>
          </a:bodyPr>
          <a:lstStyle/>
          <a:p>
            <a:pPr>
              <a:defRPr sz="12000" b="1">
                <a:solidFill>
                  <a:srgbClr val="4285F4"/>
                </a:solidFill>
                <a:latin typeface="Segoe UI"/>
              </a:defRPr>
            </a:pPr>
            <a:r>
              <a:t>01</a:t>
            </a:r>
          </a:p>
        </p:txBody>
      </p:sp>
      <p:sp>
        <p:nvSpPr>
          <p:cNvPr id="5" name="TextBox 4"/>
          <p:cNvSpPr txBox="1"/>
          <p:nvPr/>
        </p:nvSpPr>
        <p:spPr>
          <a:xfrm>
            <a:off x="2743200" y="2743200"/>
            <a:ext cx="8229600" cy="1371600"/>
          </a:xfrm>
          <a:prstGeom prst="rect">
            <a:avLst/>
          </a:prstGeom>
          <a:noFill/>
        </p:spPr>
        <p:txBody>
          <a:bodyPr wrap="square">
            <a:spAutoFit/>
          </a:bodyPr>
          <a:lstStyle/>
          <a:p>
            <a:pPr>
              <a:defRPr sz="4400" b="1">
                <a:solidFill>
                  <a:srgbClr val="FFFFFF"/>
                </a:solidFill>
                <a:latin typeface="Segoe UI"/>
              </a:defRPr>
            </a:pPr>
            <a:r>
              <a:t>Key Research Papers &amp; Products</a:t>
            </a:r>
          </a:p>
        </p:txBody>
      </p:sp>
      <p:sp>
        <p:nvSpPr>
          <p:cNvPr id="6" name="Rectangle 5"/>
          <p:cNvSpPr/>
          <p:nvPr/>
        </p:nvSpPr>
        <p:spPr>
          <a:xfrm>
            <a:off x="0" y="6803136"/>
            <a:ext cx="12191695" cy="54864"/>
          </a:xfrm>
          <a:prstGeom prst="rect">
            <a:avLst/>
          </a:prstGeom>
          <a:solidFill>
            <a:srgbClr val="4285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0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285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65760"/>
            <a:ext cx="10972800" cy="731520"/>
          </a:xfrm>
          <a:prstGeom prst="rect">
            <a:avLst/>
          </a:prstGeom>
          <a:noFill/>
        </p:spPr>
        <p:txBody>
          <a:bodyPr wrap="none">
            <a:spAutoFit/>
          </a:bodyPr>
          <a:lstStyle/>
          <a:p>
            <a:pPr>
              <a:defRPr sz="2800" b="1">
                <a:solidFill>
                  <a:srgbClr val="FFFFFF"/>
                </a:solidFill>
                <a:latin typeface="Segoe UI"/>
              </a:defRPr>
            </a:pPr>
            <a:r>
              <a:t>BeSafe-Bench (BSB) — arXiv:2603.25747</a:t>
            </a:r>
          </a:p>
        </p:txBody>
      </p:sp>
      <p:sp>
        <p:nvSpPr>
          <p:cNvPr id="5" name="Rounded Rectangle 4"/>
          <p:cNvSpPr/>
          <p:nvPr/>
        </p:nvSpPr>
        <p:spPr>
          <a:xfrm>
            <a:off x="457200" y="1188720"/>
            <a:ext cx="11247120" cy="548640"/>
          </a:xfrm>
          <a:prstGeom prst="roundRect">
            <a:avLst/>
          </a:prstGeom>
          <a:solidFill>
            <a:srgbClr val="282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280160"/>
            <a:ext cx="10789920" cy="365760"/>
          </a:xfrm>
          <a:prstGeom prst="rect">
            <a:avLst/>
          </a:prstGeom>
          <a:noFill/>
        </p:spPr>
        <p:txBody>
          <a:bodyPr wrap="none">
            <a:spAutoFit/>
          </a:bodyPr>
          <a:lstStyle/>
          <a:p>
            <a:pPr>
              <a:defRPr sz="1300">
                <a:solidFill>
                  <a:srgbClr val="787896"/>
                </a:solidFill>
                <a:latin typeface="Segoe UI"/>
              </a:defRPr>
            </a:pPr>
            <a:r>
              <a:t>Xuetao Wei et al. (Huawei RAMS Lab)  |  2026-01-30</a:t>
            </a:r>
          </a:p>
        </p:txBody>
      </p:sp>
      <p:sp>
        <p:nvSpPr>
          <p:cNvPr id="7" name="Rounded Rectangle 6"/>
          <p:cNvSpPr/>
          <p:nvPr/>
        </p:nvSpPr>
        <p:spPr>
          <a:xfrm>
            <a:off x="457200" y="1920240"/>
            <a:ext cx="11247120" cy="3474720"/>
          </a:xfrm>
          <a:prstGeom prst="roundRect">
            <a:avLst/>
          </a:prstGeom>
          <a:solidFill>
            <a:srgbClr val="1C1C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103120"/>
            <a:ext cx="10789920" cy="3108960"/>
          </a:xfrm>
          <a:prstGeom prst="rect">
            <a:avLst/>
          </a:prstGeom>
          <a:noFill/>
        </p:spPr>
        <p:txBody>
          <a:bodyPr wrap="square">
            <a:spAutoFit/>
          </a:bodyPr>
          <a:lstStyle/>
          <a:p>
            <a:pPr>
              <a:spcAft>
                <a:spcPts val="800"/>
              </a:spcAft>
              <a:defRPr sz="1400" b="1">
                <a:solidFill>
                  <a:srgbClr val="4285F4"/>
                </a:solidFill>
                <a:latin typeface="Segoe UI"/>
              </a:defRPr>
            </a:pPr>
            <a:r>
              <a:t>Abstract Summary</a:t>
            </a:r>
          </a:p>
          <a:p>
            <a:pPr>
              <a:lnSpc>
                <a:spcPct val="130000"/>
              </a:lnSpc>
              <a:defRPr sz="1400">
                <a:solidFill>
                  <a:srgbClr val="B4B4C8"/>
                </a:solidFill>
                <a:latin typeface="Segoe UI"/>
              </a:defRPr>
            </a:pPr>
            <a:r>
              <a:t>Benchmark for exposing behavioral safety risks of situated agents in functional environments (Web, Mobile, Embodied VLM, Embodied VLA). Constructs a diverse instruction space by augmenting tasks with nine categories of safety-critical risks. Hybrid evaluation framework combining rule-based checks with LLM-as-a-judge reasoning. Evaluating 13 popular agents reveals that even the best-performing agent completes fewer than 40% of tasks while fully adhering to safety constraints. Strong task performance frequently coincides with severe safety violations.</a:t>
            </a:r>
          </a:p>
        </p:txBody>
      </p:sp>
      <p:sp>
        <p:nvSpPr>
          <p:cNvPr id="9" name="Rounded Rectangle 8"/>
          <p:cNvSpPr/>
          <p:nvPr/>
        </p:nvSpPr>
        <p:spPr>
          <a:xfrm>
            <a:off x="457200" y="5577840"/>
            <a:ext cx="11247120" cy="731520"/>
          </a:xfrm>
          <a:prstGeom prst="roundRect">
            <a:avLst/>
          </a:prstGeom>
          <a:solidFill>
            <a:srgbClr val="282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715000"/>
            <a:ext cx="10789920" cy="457200"/>
          </a:xfrm>
          <a:prstGeom prst="rect">
            <a:avLst/>
          </a:prstGeom>
          <a:noFill/>
        </p:spPr>
        <p:txBody>
          <a:bodyPr wrap="none">
            <a:spAutoFit/>
          </a:bodyPr>
          <a:lstStyle/>
          <a:p>
            <a:pPr>
              <a:defRPr sz="1300">
                <a:solidFill>
                  <a:srgbClr val="34DADB"/>
                </a:solidFill>
                <a:latin typeface="Segoe UI"/>
              </a:defRPr>
            </a:pPr>
            <a:r>
              <a:t>🔗  https://arxiv.org/abs/2603.25747</a:t>
            </a:r>
          </a:p>
        </p:txBody>
      </p:sp>
      <p:sp>
        <p:nvSpPr>
          <p:cNvPr id="11" name="Rectangle 10"/>
          <p:cNvSpPr/>
          <p:nvPr/>
        </p:nvSpPr>
        <p:spPr>
          <a:xfrm>
            <a:off x="0" y="6821424"/>
            <a:ext cx="12191695" cy="36576"/>
          </a:xfrm>
          <a:prstGeom prst="rect">
            <a:avLst/>
          </a:prstGeom>
          <a:solidFill>
            <a:srgbClr val="4285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0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285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65760"/>
            <a:ext cx="10972800" cy="731520"/>
          </a:xfrm>
          <a:prstGeom prst="rect">
            <a:avLst/>
          </a:prstGeom>
          <a:noFill/>
        </p:spPr>
        <p:txBody>
          <a:bodyPr wrap="none">
            <a:spAutoFit/>
          </a:bodyPr>
          <a:lstStyle/>
          <a:p>
            <a:pPr>
              <a:defRPr sz="2800" b="1">
                <a:solidFill>
                  <a:srgbClr val="FFFFFF"/>
                </a:solidFill>
                <a:latin typeface="Segoe UI"/>
              </a:defRPr>
            </a:pPr>
            <a:r>
              <a:t>ST-WebAgentBench — arXiv:2410.06703 (ICLR 2026)</a:t>
            </a:r>
          </a:p>
        </p:txBody>
      </p:sp>
      <p:sp>
        <p:nvSpPr>
          <p:cNvPr id="5" name="Rounded Rectangle 4"/>
          <p:cNvSpPr/>
          <p:nvPr/>
        </p:nvSpPr>
        <p:spPr>
          <a:xfrm>
            <a:off x="457200" y="1188720"/>
            <a:ext cx="11247120" cy="548640"/>
          </a:xfrm>
          <a:prstGeom prst="roundRect">
            <a:avLst/>
          </a:prstGeom>
          <a:solidFill>
            <a:srgbClr val="282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280160"/>
            <a:ext cx="10789920" cy="365760"/>
          </a:xfrm>
          <a:prstGeom prst="rect">
            <a:avLst/>
          </a:prstGeom>
          <a:noFill/>
        </p:spPr>
        <p:txBody>
          <a:bodyPr wrap="none">
            <a:spAutoFit/>
          </a:bodyPr>
          <a:lstStyle/>
          <a:p>
            <a:pPr>
              <a:defRPr sz="1300">
                <a:solidFill>
                  <a:srgbClr val="787896"/>
                </a:solidFill>
                <a:latin typeface="Segoe UI"/>
              </a:defRPr>
            </a:pPr>
            <a:r>
              <a:t>Ido Levy, Ben Wiesel, Sami Marreed, Alon Oved, Avi Yaeli, Segev Shlomov (IBM Research)  |  2024-10 (ICLR 2026)</a:t>
            </a:r>
          </a:p>
        </p:txBody>
      </p:sp>
      <p:sp>
        <p:nvSpPr>
          <p:cNvPr id="7" name="Rounded Rectangle 6"/>
          <p:cNvSpPr/>
          <p:nvPr/>
        </p:nvSpPr>
        <p:spPr>
          <a:xfrm>
            <a:off x="457200" y="1920240"/>
            <a:ext cx="11247120" cy="3474720"/>
          </a:xfrm>
          <a:prstGeom prst="roundRect">
            <a:avLst/>
          </a:prstGeom>
          <a:solidFill>
            <a:srgbClr val="1C1C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103120"/>
            <a:ext cx="10789920" cy="3108960"/>
          </a:xfrm>
          <a:prstGeom prst="rect">
            <a:avLst/>
          </a:prstGeom>
          <a:noFill/>
        </p:spPr>
        <p:txBody>
          <a:bodyPr wrap="square">
            <a:spAutoFit/>
          </a:bodyPr>
          <a:lstStyle/>
          <a:p>
            <a:pPr>
              <a:spcAft>
                <a:spcPts val="800"/>
              </a:spcAft>
              <a:defRPr sz="1400" b="1">
                <a:solidFill>
                  <a:srgbClr val="4285F4"/>
                </a:solidFill>
                <a:latin typeface="Segoe UI"/>
              </a:defRPr>
            </a:pPr>
            <a:r>
              <a:t>Abstract Summary</a:t>
            </a:r>
          </a:p>
          <a:p>
            <a:pPr>
              <a:lnSpc>
                <a:spcPct val="130000"/>
              </a:lnSpc>
              <a:defRPr sz="1400">
                <a:solidFill>
                  <a:srgbClr val="B4B4C8"/>
                </a:solidFill>
                <a:latin typeface="Segoe UI"/>
              </a:defRPr>
            </a:pPr>
            <a:r>
              <a:t>Benchmark for evaluating Safety and Trustworthiness (ST) in web agents across realistic enterprise scenarios. 222 tasks paired with ST policies, scored along six orthogonal dimensions (user consent, boundary, strict execution, hierarchy, robustness, error handling). Proposes Completion Under Policy (CuP) metric—credits only completions respecting all applicable policies. Evaluating three open SOTA agents reveals their average CuP is less than two-thirds of their nominal completion rate, exposing critical safety gaps. Code, evaluation templates, and policy-authoring interface released.</a:t>
            </a:r>
          </a:p>
        </p:txBody>
      </p:sp>
      <p:sp>
        <p:nvSpPr>
          <p:cNvPr id="9" name="Rounded Rectangle 8"/>
          <p:cNvSpPr/>
          <p:nvPr/>
        </p:nvSpPr>
        <p:spPr>
          <a:xfrm>
            <a:off x="457200" y="5577840"/>
            <a:ext cx="11247120" cy="731520"/>
          </a:xfrm>
          <a:prstGeom prst="roundRect">
            <a:avLst/>
          </a:prstGeom>
          <a:solidFill>
            <a:srgbClr val="282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715000"/>
            <a:ext cx="10789920" cy="457200"/>
          </a:xfrm>
          <a:prstGeom prst="rect">
            <a:avLst/>
          </a:prstGeom>
          <a:noFill/>
        </p:spPr>
        <p:txBody>
          <a:bodyPr wrap="none">
            <a:spAutoFit/>
          </a:bodyPr>
          <a:lstStyle/>
          <a:p>
            <a:pPr>
              <a:defRPr sz="1300">
                <a:solidFill>
                  <a:srgbClr val="34DADB"/>
                </a:solidFill>
                <a:latin typeface="Segoe UI"/>
              </a:defRPr>
            </a:pPr>
            <a:r>
              <a:t>🔗  https://arxiv.org/abs/2410.06703</a:t>
            </a:r>
          </a:p>
        </p:txBody>
      </p:sp>
      <p:sp>
        <p:nvSpPr>
          <p:cNvPr id="11" name="Rectangle 10"/>
          <p:cNvSpPr/>
          <p:nvPr/>
        </p:nvSpPr>
        <p:spPr>
          <a:xfrm>
            <a:off x="0" y="6821424"/>
            <a:ext cx="12191695" cy="36576"/>
          </a:xfrm>
          <a:prstGeom prst="rect">
            <a:avLst/>
          </a:prstGeom>
          <a:solidFill>
            <a:srgbClr val="4285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0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285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65760"/>
            <a:ext cx="10972800" cy="731520"/>
          </a:xfrm>
          <a:prstGeom prst="rect">
            <a:avLst/>
          </a:prstGeom>
          <a:noFill/>
        </p:spPr>
        <p:txBody>
          <a:bodyPr wrap="none">
            <a:spAutoFit/>
          </a:bodyPr>
          <a:lstStyle/>
          <a:p>
            <a:pPr>
              <a:defRPr sz="2800" b="1">
                <a:solidFill>
                  <a:srgbClr val="FFFFFF"/>
                </a:solidFill>
                <a:latin typeface="Segoe UI"/>
              </a:defRPr>
            </a:pPr>
            <a:r>
              <a:t>Layered Governance Architecture (LGA) — arXiv:2603.07191</a:t>
            </a:r>
          </a:p>
        </p:txBody>
      </p:sp>
      <p:sp>
        <p:nvSpPr>
          <p:cNvPr id="5" name="Rounded Rectangle 4"/>
          <p:cNvSpPr/>
          <p:nvPr/>
        </p:nvSpPr>
        <p:spPr>
          <a:xfrm>
            <a:off x="457200" y="1188720"/>
            <a:ext cx="11247120" cy="548640"/>
          </a:xfrm>
          <a:prstGeom prst="roundRect">
            <a:avLst/>
          </a:prstGeom>
          <a:solidFill>
            <a:srgbClr val="282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280160"/>
            <a:ext cx="10789920" cy="365760"/>
          </a:xfrm>
          <a:prstGeom prst="rect">
            <a:avLst/>
          </a:prstGeom>
          <a:noFill/>
        </p:spPr>
        <p:txBody>
          <a:bodyPr wrap="none">
            <a:spAutoFit/>
          </a:bodyPr>
          <a:lstStyle/>
          <a:p>
            <a:pPr>
              <a:defRPr sz="1300">
                <a:solidFill>
                  <a:srgbClr val="787896"/>
                </a:solidFill>
                <a:latin typeface="Segoe UI"/>
              </a:defRPr>
            </a:pPr>
            <a:r>
              <a:t>Yuxu Ge et al.  |  2026-03-05</a:t>
            </a:r>
          </a:p>
        </p:txBody>
      </p:sp>
      <p:sp>
        <p:nvSpPr>
          <p:cNvPr id="7" name="Rounded Rectangle 6"/>
          <p:cNvSpPr/>
          <p:nvPr/>
        </p:nvSpPr>
        <p:spPr>
          <a:xfrm>
            <a:off x="457200" y="1920240"/>
            <a:ext cx="11247120" cy="3474720"/>
          </a:xfrm>
          <a:prstGeom prst="roundRect">
            <a:avLst/>
          </a:prstGeom>
          <a:solidFill>
            <a:srgbClr val="1C1C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103120"/>
            <a:ext cx="10789920" cy="3108960"/>
          </a:xfrm>
          <a:prstGeom prst="rect">
            <a:avLst/>
          </a:prstGeom>
          <a:noFill/>
        </p:spPr>
        <p:txBody>
          <a:bodyPr wrap="square">
            <a:spAutoFit/>
          </a:bodyPr>
          <a:lstStyle/>
          <a:p>
            <a:pPr>
              <a:spcAft>
                <a:spcPts val="800"/>
              </a:spcAft>
              <a:defRPr sz="1400" b="1">
                <a:solidFill>
                  <a:srgbClr val="4285F4"/>
                </a:solidFill>
                <a:latin typeface="Segoe UI"/>
              </a:defRPr>
            </a:pPr>
            <a:r>
              <a:t>Abstract Summary</a:t>
            </a:r>
          </a:p>
          <a:p>
            <a:pPr>
              <a:lnSpc>
                <a:spcPct val="130000"/>
              </a:lnSpc>
              <a:defRPr sz="1400">
                <a:solidFill>
                  <a:srgbClr val="B4B4C8"/>
                </a:solidFill>
                <a:latin typeface="Segoe UI"/>
              </a:defRPr>
            </a:pPr>
            <a:r>
              <a:t>Four-layer framework for autonomous agent security: L1 execution sandboxing, L2 intent verification, L3 zero-trust inter-agent authorization, L4 immutable audit logging. Constructs a bilingual benchmark of 1,081 tool-call samples covering prompt injection, RAG poisoning, and malicious skill plugins. LLM judges intercept 93–98.5% of malicious tool calls; end-to-end pipeline achieves 96% interception with 980ms P50 latency. Generalization to external InjecAgent benchmark yields 99–100% interception.</a:t>
            </a:r>
          </a:p>
        </p:txBody>
      </p:sp>
      <p:sp>
        <p:nvSpPr>
          <p:cNvPr id="9" name="Rounded Rectangle 8"/>
          <p:cNvSpPr/>
          <p:nvPr/>
        </p:nvSpPr>
        <p:spPr>
          <a:xfrm>
            <a:off x="457200" y="5577840"/>
            <a:ext cx="11247120" cy="731520"/>
          </a:xfrm>
          <a:prstGeom prst="roundRect">
            <a:avLst/>
          </a:prstGeom>
          <a:solidFill>
            <a:srgbClr val="282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715000"/>
            <a:ext cx="10789920" cy="457200"/>
          </a:xfrm>
          <a:prstGeom prst="rect">
            <a:avLst/>
          </a:prstGeom>
          <a:noFill/>
        </p:spPr>
        <p:txBody>
          <a:bodyPr wrap="none">
            <a:spAutoFit/>
          </a:bodyPr>
          <a:lstStyle/>
          <a:p>
            <a:pPr>
              <a:defRPr sz="1300">
                <a:solidFill>
                  <a:srgbClr val="34DADB"/>
                </a:solidFill>
                <a:latin typeface="Segoe UI"/>
              </a:defRPr>
            </a:pPr>
            <a:r>
              <a:t>🔗  https://arxiv.org/abs/2603.07191</a:t>
            </a:r>
          </a:p>
        </p:txBody>
      </p:sp>
      <p:sp>
        <p:nvSpPr>
          <p:cNvPr id="11" name="Rectangle 10"/>
          <p:cNvSpPr/>
          <p:nvPr/>
        </p:nvSpPr>
        <p:spPr>
          <a:xfrm>
            <a:off x="0" y="6821424"/>
            <a:ext cx="12191695" cy="36576"/>
          </a:xfrm>
          <a:prstGeom prst="rect">
            <a:avLst/>
          </a:prstGeom>
          <a:solidFill>
            <a:srgbClr val="4285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0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285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65760"/>
            <a:ext cx="10972800" cy="731520"/>
          </a:xfrm>
          <a:prstGeom prst="rect">
            <a:avLst/>
          </a:prstGeom>
          <a:noFill/>
        </p:spPr>
        <p:txBody>
          <a:bodyPr wrap="none">
            <a:spAutoFit/>
          </a:bodyPr>
          <a:lstStyle/>
          <a:p>
            <a:pPr>
              <a:defRPr sz="2800" b="1">
                <a:solidFill>
                  <a:srgbClr val="FFFFFF"/>
                </a:solidFill>
                <a:latin typeface="Segoe UI"/>
              </a:defRPr>
            </a:pPr>
            <a:r>
              <a:t>Skilldex — arXiv:2604.16911</a:t>
            </a:r>
          </a:p>
        </p:txBody>
      </p:sp>
      <p:sp>
        <p:nvSpPr>
          <p:cNvPr id="5" name="Rounded Rectangle 4"/>
          <p:cNvSpPr/>
          <p:nvPr/>
        </p:nvSpPr>
        <p:spPr>
          <a:xfrm>
            <a:off x="457200" y="1188720"/>
            <a:ext cx="11247120" cy="548640"/>
          </a:xfrm>
          <a:prstGeom prst="roundRect">
            <a:avLst/>
          </a:prstGeom>
          <a:solidFill>
            <a:srgbClr val="282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280160"/>
            <a:ext cx="10789920" cy="365760"/>
          </a:xfrm>
          <a:prstGeom prst="rect">
            <a:avLst/>
          </a:prstGeom>
          <a:noFill/>
        </p:spPr>
        <p:txBody>
          <a:bodyPr wrap="none">
            <a:spAutoFit/>
          </a:bodyPr>
          <a:lstStyle/>
          <a:p>
            <a:pPr>
              <a:defRPr sz="1300">
                <a:solidFill>
                  <a:srgbClr val="787896"/>
                </a:solidFill>
                <a:latin typeface="Segoe UI"/>
              </a:defRPr>
            </a:pPr>
            <a:r>
              <a:t>Sampriti Saha et al.  |  2026-04-18</a:t>
            </a:r>
          </a:p>
        </p:txBody>
      </p:sp>
      <p:sp>
        <p:nvSpPr>
          <p:cNvPr id="7" name="Rounded Rectangle 6"/>
          <p:cNvSpPr/>
          <p:nvPr/>
        </p:nvSpPr>
        <p:spPr>
          <a:xfrm>
            <a:off x="457200" y="1920240"/>
            <a:ext cx="11247120" cy="3474720"/>
          </a:xfrm>
          <a:prstGeom prst="roundRect">
            <a:avLst/>
          </a:prstGeom>
          <a:solidFill>
            <a:srgbClr val="1C1C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103120"/>
            <a:ext cx="10789920" cy="3108960"/>
          </a:xfrm>
          <a:prstGeom prst="rect">
            <a:avLst/>
          </a:prstGeom>
          <a:noFill/>
        </p:spPr>
        <p:txBody>
          <a:bodyPr wrap="square">
            <a:spAutoFit/>
          </a:bodyPr>
          <a:lstStyle/>
          <a:p>
            <a:pPr>
              <a:spcAft>
                <a:spcPts val="800"/>
              </a:spcAft>
              <a:defRPr sz="1400" b="1">
                <a:solidFill>
                  <a:srgbClr val="4285F4"/>
                </a:solidFill>
                <a:latin typeface="Segoe UI"/>
              </a:defRPr>
            </a:pPr>
            <a:r>
              <a:t>Abstract Summary</a:t>
            </a:r>
          </a:p>
          <a:p>
            <a:pPr>
              <a:lnSpc>
                <a:spcPct val="130000"/>
              </a:lnSpc>
              <a:defRPr sz="1400">
                <a:solidFill>
                  <a:srgbClr val="B4B4C8"/>
                </a:solidFill>
                <a:latin typeface="Segoe UI"/>
              </a:defRPr>
            </a:pPr>
            <a:r>
              <a:t>Package manager and registry for agent skill packages. Two novel contributions: (1) compiler-style format conformance scoring against Anthropic's skill specification, producing line-level diagnostics; (2) the skillset abstraction—a bundled collection of related skills with shared assets enforcing cross-skill behavioral coherence. Includes three-tier hierarchical scope system, human-in-the-loop suggestion loop, metadata-only community registry, and MCP server. IMPORTANT: Explicitly NOT a measure of functional quality—only format conformance. TypeScript CLI with Hono/Supabase backend, open-source.</a:t>
            </a:r>
          </a:p>
        </p:txBody>
      </p:sp>
      <p:sp>
        <p:nvSpPr>
          <p:cNvPr id="9" name="Rounded Rectangle 8"/>
          <p:cNvSpPr/>
          <p:nvPr/>
        </p:nvSpPr>
        <p:spPr>
          <a:xfrm>
            <a:off x="457200" y="5577840"/>
            <a:ext cx="11247120" cy="731520"/>
          </a:xfrm>
          <a:prstGeom prst="roundRect">
            <a:avLst/>
          </a:prstGeom>
          <a:solidFill>
            <a:srgbClr val="282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715000"/>
            <a:ext cx="10789920" cy="457200"/>
          </a:xfrm>
          <a:prstGeom prst="rect">
            <a:avLst/>
          </a:prstGeom>
          <a:noFill/>
        </p:spPr>
        <p:txBody>
          <a:bodyPr wrap="none">
            <a:spAutoFit/>
          </a:bodyPr>
          <a:lstStyle/>
          <a:p>
            <a:pPr>
              <a:defRPr sz="1300">
                <a:solidFill>
                  <a:srgbClr val="34DADB"/>
                </a:solidFill>
                <a:latin typeface="Segoe UI"/>
              </a:defRPr>
            </a:pPr>
            <a:r>
              <a:t>🔗  https://arxiv.org/abs/2604.16911</a:t>
            </a:r>
          </a:p>
        </p:txBody>
      </p:sp>
      <p:sp>
        <p:nvSpPr>
          <p:cNvPr id="11" name="Rectangle 10"/>
          <p:cNvSpPr/>
          <p:nvPr/>
        </p:nvSpPr>
        <p:spPr>
          <a:xfrm>
            <a:off x="0" y="6821424"/>
            <a:ext cx="12191695" cy="36576"/>
          </a:xfrm>
          <a:prstGeom prst="rect">
            <a:avLst/>
          </a:prstGeom>
          <a:solidFill>
            <a:srgbClr val="4285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0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285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65760"/>
            <a:ext cx="10972800" cy="731520"/>
          </a:xfrm>
          <a:prstGeom prst="rect">
            <a:avLst/>
          </a:prstGeom>
          <a:noFill/>
        </p:spPr>
        <p:txBody>
          <a:bodyPr wrap="none">
            <a:spAutoFit/>
          </a:bodyPr>
          <a:lstStyle/>
          <a:p>
            <a:pPr>
              <a:defRPr sz="2800" b="1">
                <a:solidFill>
                  <a:srgbClr val="FFFFFF"/>
                </a:solidFill>
                <a:latin typeface="Segoe UI"/>
              </a:defRPr>
            </a:pPr>
            <a:r>
              <a:t>GovernSpec / Contractual Skills — arXiv:2605.22634</a:t>
            </a:r>
          </a:p>
        </p:txBody>
      </p:sp>
      <p:sp>
        <p:nvSpPr>
          <p:cNvPr id="5" name="Rounded Rectangle 4"/>
          <p:cNvSpPr/>
          <p:nvPr/>
        </p:nvSpPr>
        <p:spPr>
          <a:xfrm>
            <a:off x="457200" y="1188720"/>
            <a:ext cx="11247120" cy="548640"/>
          </a:xfrm>
          <a:prstGeom prst="roundRect">
            <a:avLst/>
          </a:prstGeom>
          <a:solidFill>
            <a:srgbClr val="282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280160"/>
            <a:ext cx="10789920" cy="365760"/>
          </a:xfrm>
          <a:prstGeom prst="rect">
            <a:avLst/>
          </a:prstGeom>
          <a:noFill/>
        </p:spPr>
        <p:txBody>
          <a:bodyPr wrap="none">
            <a:spAutoFit/>
          </a:bodyPr>
          <a:lstStyle/>
          <a:p>
            <a:pPr>
              <a:defRPr sz="1300">
                <a:solidFill>
                  <a:srgbClr val="787896"/>
                </a:solidFill>
                <a:latin typeface="Segoe UI"/>
              </a:defRPr>
            </a:pPr>
            <a:r>
              <a:t>Ting Liu et al.  |  2026-05-21</a:t>
            </a:r>
          </a:p>
        </p:txBody>
      </p:sp>
      <p:sp>
        <p:nvSpPr>
          <p:cNvPr id="7" name="Rounded Rectangle 6"/>
          <p:cNvSpPr/>
          <p:nvPr/>
        </p:nvSpPr>
        <p:spPr>
          <a:xfrm>
            <a:off x="457200" y="1920240"/>
            <a:ext cx="11247120" cy="3474720"/>
          </a:xfrm>
          <a:prstGeom prst="roundRect">
            <a:avLst/>
          </a:prstGeom>
          <a:solidFill>
            <a:srgbClr val="1C1C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103120"/>
            <a:ext cx="10789920" cy="3108960"/>
          </a:xfrm>
          <a:prstGeom prst="rect">
            <a:avLst/>
          </a:prstGeom>
          <a:noFill/>
        </p:spPr>
        <p:txBody>
          <a:bodyPr wrap="square">
            <a:spAutoFit/>
          </a:bodyPr>
          <a:lstStyle/>
          <a:p>
            <a:pPr>
              <a:spcAft>
                <a:spcPts val="800"/>
              </a:spcAft>
              <a:defRPr sz="1400" b="1">
                <a:solidFill>
                  <a:srgbClr val="4285F4"/>
                </a:solidFill>
                <a:latin typeface="Segoe UI"/>
              </a:defRPr>
            </a:pPr>
            <a:r>
              <a:t>Abstract Summary</a:t>
            </a:r>
          </a:p>
          <a:p>
            <a:pPr>
              <a:lnSpc>
                <a:spcPct val="130000"/>
              </a:lnSpc>
              <a:defRPr sz="1400">
                <a:solidFill>
                  <a:srgbClr val="B4B4C8"/>
                </a:solidFill>
                <a:latin typeface="Segoe UI"/>
              </a:defRPr>
            </a:pPr>
            <a:r>
              <a:t>GovernSpec-inspired framework for organizing SKILL.md files as readable task contracts. Makes goals, input boundaries, permissions, evidence requirements, output contracts, quality criteria, verification steps, human approval points, and handoff rules inspectable. Clarifies the boundary between contractual skills, GovernSpec YAML contracts, MCP surfaces, tool adapters, runtime guardrails, tracing, and evaluation systems. Two offline experiments: text-generation study (3 skills, 15 tasks, 4 conditions, 8 models, 960 outputs) and tool-calling challenge (8 models, 192 simulated tool calls). Key result: contractual skills are a governance layer for explicit intent/boundaries, NOT a standalone safety mechanism.</a:t>
            </a:r>
          </a:p>
        </p:txBody>
      </p:sp>
      <p:sp>
        <p:nvSpPr>
          <p:cNvPr id="9" name="Rounded Rectangle 8"/>
          <p:cNvSpPr/>
          <p:nvPr/>
        </p:nvSpPr>
        <p:spPr>
          <a:xfrm>
            <a:off x="457200" y="5577840"/>
            <a:ext cx="11247120" cy="731520"/>
          </a:xfrm>
          <a:prstGeom prst="roundRect">
            <a:avLst/>
          </a:prstGeom>
          <a:solidFill>
            <a:srgbClr val="282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715000"/>
            <a:ext cx="10789920" cy="457200"/>
          </a:xfrm>
          <a:prstGeom prst="rect">
            <a:avLst/>
          </a:prstGeom>
          <a:noFill/>
        </p:spPr>
        <p:txBody>
          <a:bodyPr wrap="none">
            <a:spAutoFit/>
          </a:bodyPr>
          <a:lstStyle/>
          <a:p>
            <a:pPr>
              <a:defRPr sz="1300">
                <a:solidFill>
                  <a:srgbClr val="34DADB"/>
                </a:solidFill>
                <a:latin typeface="Segoe UI"/>
              </a:defRPr>
            </a:pPr>
            <a:r>
              <a:t>🔗  https://arxiv.org/abs/2605.22634</a:t>
            </a:r>
          </a:p>
        </p:txBody>
      </p:sp>
      <p:sp>
        <p:nvSpPr>
          <p:cNvPr id="11" name="Rectangle 10"/>
          <p:cNvSpPr/>
          <p:nvPr/>
        </p:nvSpPr>
        <p:spPr>
          <a:xfrm>
            <a:off x="0" y="6821424"/>
            <a:ext cx="12191695" cy="36576"/>
          </a:xfrm>
          <a:prstGeom prst="rect">
            <a:avLst/>
          </a:prstGeom>
          <a:solidFill>
            <a:srgbClr val="4285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0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9B59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828800"/>
            <a:ext cx="1828800" cy="1828800"/>
          </a:xfrm>
          <a:prstGeom prst="rect">
            <a:avLst/>
          </a:prstGeom>
          <a:noFill/>
        </p:spPr>
        <p:txBody>
          <a:bodyPr wrap="none">
            <a:spAutoFit/>
          </a:bodyPr>
          <a:lstStyle/>
          <a:p>
            <a:pPr>
              <a:defRPr sz="12000" b="1">
                <a:solidFill>
                  <a:srgbClr val="9B59B6"/>
                </a:solidFill>
                <a:latin typeface="Segoe UI"/>
              </a:defRPr>
            </a:pPr>
            <a:r>
              <a:t>02</a:t>
            </a:r>
          </a:p>
        </p:txBody>
      </p:sp>
      <p:sp>
        <p:nvSpPr>
          <p:cNvPr id="5" name="TextBox 4"/>
          <p:cNvSpPr txBox="1"/>
          <p:nvPr/>
        </p:nvSpPr>
        <p:spPr>
          <a:xfrm>
            <a:off x="2743200" y="2743200"/>
            <a:ext cx="8229600" cy="1371600"/>
          </a:xfrm>
          <a:prstGeom prst="rect">
            <a:avLst/>
          </a:prstGeom>
          <a:noFill/>
        </p:spPr>
        <p:txBody>
          <a:bodyPr wrap="square">
            <a:spAutoFit/>
          </a:bodyPr>
          <a:lstStyle/>
          <a:p>
            <a:pPr>
              <a:defRPr sz="4400" b="1">
                <a:solidFill>
                  <a:srgbClr val="FFFFFF"/>
                </a:solidFill>
                <a:latin typeface="Segoe UI"/>
              </a:defRPr>
            </a:pPr>
            <a:r>
              <a:t>Key Products &amp; Frameworks</a:t>
            </a:r>
          </a:p>
        </p:txBody>
      </p:sp>
      <p:sp>
        <p:nvSpPr>
          <p:cNvPr id="6" name="Rectangle 5"/>
          <p:cNvSpPr/>
          <p:nvPr/>
        </p:nvSpPr>
        <p:spPr>
          <a:xfrm>
            <a:off x="0" y="6803136"/>
            <a:ext cx="12191695" cy="54864"/>
          </a:xfrm>
          <a:prstGeom prst="rect">
            <a:avLst/>
          </a:prstGeom>
          <a:solidFill>
            <a:srgbClr val="9B59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0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9B59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65760"/>
            <a:ext cx="10972800" cy="731520"/>
          </a:xfrm>
          <a:prstGeom prst="rect">
            <a:avLst/>
          </a:prstGeom>
          <a:noFill/>
        </p:spPr>
        <p:txBody>
          <a:bodyPr wrap="none">
            <a:spAutoFit/>
          </a:bodyPr>
          <a:lstStyle/>
          <a:p>
            <a:pPr>
              <a:defRPr sz="2800" b="1">
                <a:solidFill>
                  <a:srgbClr val="FFFFFF"/>
                </a:solidFill>
                <a:latin typeface="Segoe UI"/>
              </a:defRPr>
            </a:pPr>
            <a:r>
              <a:t>Microsoft Agent Governance Toolkit — MIT License</a:t>
            </a:r>
          </a:p>
        </p:txBody>
      </p:sp>
      <p:sp>
        <p:nvSpPr>
          <p:cNvPr id="5" name="Rounded Rectangle 4"/>
          <p:cNvSpPr/>
          <p:nvPr/>
        </p:nvSpPr>
        <p:spPr>
          <a:xfrm>
            <a:off x="457200" y="1188720"/>
            <a:ext cx="11247120" cy="548640"/>
          </a:xfrm>
          <a:prstGeom prst="roundRect">
            <a:avLst/>
          </a:prstGeom>
          <a:solidFill>
            <a:srgbClr val="282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280160"/>
            <a:ext cx="10789920" cy="365760"/>
          </a:xfrm>
          <a:prstGeom prst="rect">
            <a:avLst/>
          </a:prstGeom>
          <a:noFill/>
        </p:spPr>
        <p:txBody>
          <a:bodyPr wrap="none">
            <a:spAutoFit/>
          </a:bodyPr>
          <a:lstStyle/>
          <a:p>
            <a:pPr>
              <a:defRPr sz="1300">
                <a:solidFill>
                  <a:srgbClr val="787896"/>
                </a:solidFill>
                <a:latin typeface="Segoe UI"/>
              </a:defRPr>
            </a:pPr>
            <a:r>
              <a:t>Microsoft  |  2026-04-02</a:t>
            </a:r>
          </a:p>
        </p:txBody>
      </p:sp>
      <p:sp>
        <p:nvSpPr>
          <p:cNvPr id="7" name="Rounded Rectangle 6"/>
          <p:cNvSpPr/>
          <p:nvPr/>
        </p:nvSpPr>
        <p:spPr>
          <a:xfrm>
            <a:off x="457200" y="1920240"/>
            <a:ext cx="11247120" cy="3474720"/>
          </a:xfrm>
          <a:prstGeom prst="roundRect">
            <a:avLst/>
          </a:prstGeom>
          <a:solidFill>
            <a:srgbClr val="1C1C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103120"/>
            <a:ext cx="10789920" cy="3108960"/>
          </a:xfrm>
          <a:prstGeom prst="rect">
            <a:avLst/>
          </a:prstGeom>
          <a:noFill/>
        </p:spPr>
        <p:txBody>
          <a:bodyPr wrap="square">
            <a:spAutoFit/>
          </a:bodyPr>
          <a:lstStyle/>
          <a:p>
            <a:pPr>
              <a:spcAft>
                <a:spcPts val="800"/>
              </a:spcAft>
              <a:defRPr sz="1400" b="1">
                <a:solidFill>
                  <a:srgbClr val="9B59B6"/>
                </a:solidFill>
                <a:latin typeface="Segoe UI"/>
              </a:defRPr>
            </a:pPr>
            <a:r>
              <a:t>Abstract Summary</a:t>
            </a:r>
          </a:p>
          <a:p>
            <a:pPr>
              <a:lnSpc>
                <a:spcPct val="130000"/>
              </a:lnSpc>
              <a:defRPr sz="1400">
                <a:solidFill>
                  <a:srgbClr val="B4B4C8"/>
                </a:solidFill>
                <a:latin typeface="Segoe UI"/>
              </a:defRPr>
            </a:pPr>
            <a:r>
              <a:t>First open-source toolkit addressing all 10 OWASP Agentic AI risks with deterministic, sub-millisecond policy enforcement (&lt;0.1ms p99). Seven packages: Agent OS (stateless policy engine), Agent Mesh (DID-based identity with dynamic trust scoring 0–1000), Agent Runtime (execution rings inspired by CPU privilege levels), Agent SRE (SLOs, circuit breakers, chaos engineering), Agent Compliance (automated EU AI Act / HIPAA / SOC2 mapping), Agent Marketplace (Ed25519 signing, trust-tiered gating), Agent Lightning (RL training governance). Framework-agnostic integrations for LangChain, CrewAI, Google ADK, OpenAI Agents SDK, Haystack, LangGraph, PydanticAI. 9,500+ tests, SLSA-compatible build provenance, OpenSSF Scorecard.</a:t>
            </a:r>
          </a:p>
        </p:txBody>
      </p:sp>
      <p:sp>
        <p:nvSpPr>
          <p:cNvPr id="9" name="Rounded Rectangle 8"/>
          <p:cNvSpPr/>
          <p:nvPr/>
        </p:nvSpPr>
        <p:spPr>
          <a:xfrm>
            <a:off x="457200" y="5577840"/>
            <a:ext cx="11247120" cy="731520"/>
          </a:xfrm>
          <a:prstGeom prst="roundRect">
            <a:avLst/>
          </a:prstGeom>
          <a:solidFill>
            <a:srgbClr val="2828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715000"/>
            <a:ext cx="10789920" cy="457200"/>
          </a:xfrm>
          <a:prstGeom prst="rect">
            <a:avLst/>
          </a:prstGeom>
          <a:noFill/>
        </p:spPr>
        <p:txBody>
          <a:bodyPr wrap="none">
            <a:spAutoFit/>
          </a:bodyPr>
          <a:lstStyle/>
          <a:p>
            <a:pPr>
              <a:defRPr sz="1300">
                <a:solidFill>
                  <a:srgbClr val="34DADB"/>
                </a:solidFill>
                <a:latin typeface="Segoe UI"/>
              </a:defRPr>
            </a:pPr>
            <a:r>
              <a:t>🔗  https://opensource.microsoft.com/blog/2026/04/02/introducing-the-agent-governance-toolkit-open-source-runtime-security-for-ai-agents/</a:t>
            </a:r>
          </a:p>
        </p:txBody>
      </p:sp>
      <p:sp>
        <p:nvSpPr>
          <p:cNvPr id="11" name="Rectangle 10"/>
          <p:cNvSpPr/>
          <p:nvPr/>
        </p:nvSpPr>
        <p:spPr>
          <a:xfrm>
            <a:off x="0" y="6821424"/>
            <a:ext cx="12191695" cy="36576"/>
          </a:xfrm>
          <a:prstGeom prst="rect">
            <a:avLst/>
          </a:prstGeom>
          <a:solidFill>
            <a:srgbClr val="9B59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0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9B59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65760"/>
            <a:ext cx="10972800" cy="731520"/>
          </a:xfrm>
          <a:prstGeom prst="rect">
            <a:avLst/>
          </a:prstGeom>
          <a:noFill/>
        </p:spPr>
        <p:txBody>
          <a:bodyPr wrap="none">
            <a:spAutoFit/>
          </a:bodyPr>
          <a:lstStyle/>
          <a:p>
            <a:pPr>
              <a:defRPr sz="3200" b="1">
                <a:solidFill>
                  <a:srgbClr val="FFFFFF"/>
                </a:solidFill>
                <a:latin typeface="Segoe UI"/>
              </a:defRPr>
            </a:pPr>
            <a:r>
              <a:t>OWASP Top 10 (2026) &amp; Ruh AI Production Guide</a:t>
            </a:r>
          </a:p>
        </p:txBody>
      </p:sp>
      <p:sp>
        <p:nvSpPr>
          <p:cNvPr id="5" name="Rounded Rectangle 4"/>
          <p:cNvSpPr/>
          <p:nvPr/>
        </p:nvSpPr>
        <p:spPr>
          <a:xfrm>
            <a:off x="457200" y="1188720"/>
            <a:ext cx="11247120" cy="5120640"/>
          </a:xfrm>
          <a:prstGeom prst="roundRect">
            <a:avLst/>
          </a:prstGeom>
          <a:solidFill>
            <a:srgbClr val="1C1C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371600"/>
            <a:ext cx="10789920" cy="4754880"/>
          </a:xfrm>
          <a:prstGeom prst="rect">
            <a:avLst/>
          </a:prstGeom>
          <a:noFill/>
        </p:spPr>
        <p:txBody>
          <a:bodyPr wrap="square">
            <a:spAutoFit/>
          </a:bodyPr>
          <a:lstStyle/>
          <a:p>
            <a:pPr>
              <a:spcBef>
                <a:spcPts val="1200"/>
              </a:spcBef>
              <a:spcAft>
                <a:spcPts val="600"/>
              </a:spcAft>
              <a:defRPr sz="1600">
                <a:solidFill>
                  <a:srgbClr val="B4B4C8"/>
                </a:solidFill>
                <a:latin typeface="Segoe UI"/>
              </a:defRPr>
            </a:pPr>
            <a:r>
              <a:t>OWASP Top 10 for Agentic Applications (December 2025) — owasp.org</a:t>
            </a:r>
          </a:p>
          <a:p>
            <a:pPr>
              <a:spcBef>
                <a:spcPts val="1200"/>
              </a:spcBef>
              <a:spcAft>
                <a:spcPts val="600"/>
              </a:spcAft>
              <a:defRPr sz="1600">
                <a:solidFill>
                  <a:srgbClr val="B4B4C8"/>
                </a:solidFill>
                <a:latin typeface="Segoe UI"/>
              </a:defRPr>
            </a:pPr>
            <a:r>
              <a:t>  • 10 risks: Goal Hijacking, Tool Misuse, Identity Abuse, Memory Poisoning,</a:t>
            </a:r>
          </a:p>
          <a:p>
            <a:pPr>
              <a:spcBef>
                <a:spcPts val="1200"/>
              </a:spcBef>
              <a:spcAft>
                <a:spcPts val="600"/>
              </a:spcAft>
              <a:defRPr sz="1600">
                <a:solidFill>
                  <a:srgbClr val="B4B4C8"/>
                </a:solidFill>
                <a:latin typeface="Segoe UI"/>
              </a:defRPr>
            </a:pPr>
            <a:r>
              <a:t>    Cascading Failures, Rogue Agents, Prompt Injection, Data Leakage, Over-Privilege, Supply Chain</a:t>
            </a:r>
          </a:p>
          <a:p>
            <a:pPr>
              <a:spcBef>
                <a:spcPts val="1200"/>
              </a:spcBef>
              <a:spcAft>
                <a:spcPts val="600"/>
              </a:spcAft>
              <a:defRPr sz="1600">
                <a:solidFill>
                  <a:srgbClr val="B4B4C8"/>
                </a:solidFill>
                <a:latin typeface="Segoe UI"/>
              </a:defRPr>
            </a:pPr>
            <a:r>
              <a:t>  • Industry standard taxonomy. Mapped directly by Microsoft Toolkit and compliance frameworks.</a:t>
            </a:r>
          </a:p>
          <a:p>
            <a:pPr>
              <a:spcBef>
                <a:spcPts val="1200"/>
              </a:spcBef>
              <a:spcAft>
                <a:spcPts val="600"/>
              </a:spcAft>
              <a:defRPr sz="1600">
                <a:solidFill>
                  <a:srgbClr val="B4B4C8"/>
                </a:solidFill>
                <a:latin typeface="Segoe UI"/>
              </a:defRPr>
            </a:pPr>
          </a:p>
          <a:p>
            <a:pPr>
              <a:spcBef>
                <a:spcPts val="1200"/>
              </a:spcBef>
              <a:spcAft>
                <a:spcPts val="600"/>
              </a:spcAft>
              <a:defRPr sz="1600">
                <a:solidFill>
                  <a:srgbClr val="B4B4C8"/>
                </a:solidFill>
                <a:latin typeface="Segoe UI"/>
              </a:defRPr>
            </a:pPr>
            <a:r>
              <a:t>Ruh AI: How to Evaluate AI Agents in Production (2026-05-24) — ruh.ai</a:t>
            </a:r>
          </a:p>
          <a:p>
            <a:pPr>
              <a:spcBef>
                <a:spcPts val="1200"/>
              </a:spcBef>
              <a:spcAft>
                <a:spcPts val="600"/>
              </a:spcAft>
              <a:defRPr sz="1600">
                <a:solidFill>
                  <a:srgbClr val="B4B4C8"/>
                </a:solidFill>
                <a:latin typeface="Segoe UI"/>
              </a:defRPr>
            </a:pPr>
            <a:r>
              <a:t>  • Documents the 'quality crisis': 40%+ projects forecast cancelled by 2027</a:t>
            </a:r>
          </a:p>
          <a:p>
            <a:pPr>
              <a:spcBef>
                <a:spcPts val="1200"/>
              </a:spcBef>
              <a:spcAft>
                <a:spcPts val="600"/>
              </a:spcAft>
              <a:defRPr sz="1600">
                <a:solidFill>
                  <a:srgbClr val="B4B4C8"/>
                </a:solidFill>
                <a:latin typeface="Segoe UI"/>
              </a:defRPr>
            </a:pPr>
            <a:r>
              <a:t>  • 57% of organizations have agents in production; quality is the #1 barrier</a:t>
            </a:r>
          </a:p>
          <a:p>
            <a:pPr>
              <a:spcBef>
                <a:spcPts val="1200"/>
              </a:spcBef>
              <a:spcAft>
                <a:spcPts val="600"/>
              </a:spcAft>
              <a:defRPr sz="1600">
                <a:solidFill>
                  <a:srgbClr val="B4B4C8"/>
                </a:solidFill>
                <a:latin typeface="Segoe UI"/>
              </a:defRPr>
            </a:pPr>
            <a:r>
              <a:t>  • 7-step production playbook: real-failure tasks, OpenTelemetry, core metric triad, hybrid judging</a:t>
            </a:r>
          </a:p>
          <a:p>
            <a:pPr>
              <a:spcBef>
                <a:spcPts val="1200"/>
              </a:spcBef>
              <a:spcAft>
                <a:spcPts val="600"/>
              </a:spcAft>
              <a:defRPr sz="1600">
                <a:solidFill>
                  <a:srgbClr val="B4B4C8"/>
                </a:solidFill>
                <a:latin typeface="Segoe UI"/>
              </a:defRPr>
            </a:pPr>
            <a:r>
              <a:t>  • Reviews tooling: LangSmith, Braintrust, Arize, Langfuse, Confident AI, Galileo</a:t>
            </a:r>
          </a:p>
        </p:txBody>
      </p:sp>
      <p:sp>
        <p:nvSpPr>
          <p:cNvPr id="7" name="Rectangle 6"/>
          <p:cNvSpPr/>
          <p:nvPr/>
        </p:nvSpPr>
        <p:spPr>
          <a:xfrm>
            <a:off x="0" y="6821424"/>
            <a:ext cx="12191695" cy="36576"/>
          </a:xfrm>
          <a:prstGeom prst="rect">
            <a:avLst/>
          </a:prstGeom>
          <a:solidFill>
            <a:srgbClr val="9B59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0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34DA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828800"/>
            <a:ext cx="1828800" cy="1828800"/>
          </a:xfrm>
          <a:prstGeom prst="rect">
            <a:avLst/>
          </a:prstGeom>
          <a:noFill/>
        </p:spPr>
        <p:txBody>
          <a:bodyPr wrap="none">
            <a:spAutoFit/>
          </a:bodyPr>
          <a:lstStyle/>
          <a:p>
            <a:pPr>
              <a:defRPr sz="12000" b="1">
                <a:solidFill>
                  <a:srgbClr val="34DADB"/>
                </a:solidFill>
                <a:latin typeface="Segoe UI"/>
              </a:defRPr>
            </a:pPr>
            <a:r>
              <a:t>03</a:t>
            </a:r>
          </a:p>
        </p:txBody>
      </p:sp>
      <p:sp>
        <p:nvSpPr>
          <p:cNvPr id="5" name="TextBox 4"/>
          <p:cNvSpPr txBox="1"/>
          <p:nvPr/>
        </p:nvSpPr>
        <p:spPr>
          <a:xfrm>
            <a:off x="2743200" y="2743200"/>
            <a:ext cx="8229600" cy="1371600"/>
          </a:xfrm>
          <a:prstGeom prst="rect">
            <a:avLst/>
          </a:prstGeom>
          <a:noFill/>
        </p:spPr>
        <p:txBody>
          <a:bodyPr wrap="square">
            <a:spAutoFit/>
          </a:bodyPr>
          <a:lstStyle/>
          <a:p>
            <a:pPr>
              <a:defRPr sz="4400" b="1">
                <a:solidFill>
                  <a:srgbClr val="FFFFFF"/>
                </a:solidFill>
                <a:latin typeface="Segoe UI"/>
              </a:defRPr>
            </a:pPr>
            <a:r>
              <a:t>Ranked Recommendations</a:t>
            </a:r>
          </a:p>
        </p:txBody>
      </p:sp>
      <p:sp>
        <p:nvSpPr>
          <p:cNvPr id="6" name="Rectangle 5"/>
          <p:cNvSpPr/>
          <p:nvPr/>
        </p:nvSpPr>
        <p:spPr>
          <a:xfrm>
            <a:off x="0" y="6803136"/>
            <a:ext cx="12191695" cy="54864"/>
          </a:xfrm>
          <a:prstGeom prst="rect">
            <a:avLst/>
          </a:prstGeom>
          <a:solidFill>
            <a:srgbClr val="34DA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0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4DA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65760"/>
            <a:ext cx="10972800" cy="731520"/>
          </a:xfrm>
          <a:prstGeom prst="rect">
            <a:avLst/>
          </a:prstGeom>
          <a:noFill/>
        </p:spPr>
        <p:txBody>
          <a:bodyPr wrap="none">
            <a:spAutoFit/>
          </a:bodyPr>
          <a:lstStyle/>
          <a:p>
            <a:pPr>
              <a:defRPr sz="3200" b="1">
                <a:solidFill>
                  <a:srgbClr val="FFFFFF"/>
                </a:solidFill>
                <a:latin typeface="Segoe UI"/>
              </a:defRPr>
            </a:pPr>
            <a:r>
              <a:t>Immediate (Next 30 Days)</a:t>
            </a:r>
          </a:p>
        </p:txBody>
      </p:sp>
      <p:sp>
        <p:nvSpPr>
          <p:cNvPr id="5" name="Oval 4"/>
          <p:cNvSpPr/>
          <p:nvPr/>
        </p:nvSpPr>
        <p:spPr>
          <a:xfrm>
            <a:off x="548640" y="1280160"/>
            <a:ext cx="457200" cy="457200"/>
          </a:xfrm>
          <a:prstGeom prst="ellipse">
            <a:avLst/>
          </a:prstGeom>
          <a:solidFill>
            <a:srgbClr val="34DA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280160"/>
            <a:ext cx="457200" cy="457200"/>
          </a:xfrm>
          <a:prstGeom prst="rect">
            <a:avLst/>
          </a:prstGeom>
          <a:noFill/>
        </p:spPr>
        <p:txBody>
          <a:bodyPr wrap="none">
            <a:spAutoFit/>
          </a:bodyPr>
          <a:lstStyle/>
          <a:p>
            <a:pPr algn="ctr">
              <a:defRPr sz="1600" b="1">
                <a:solidFill>
                  <a:srgbClr val="FFFFFF"/>
                </a:solidFill>
                <a:latin typeface="Segoe UI"/>
              </a:defRPr>
            </a:pPr>
            <a:r>
              <a:t>1</a:t>
            </a:r>
          </a:p>
        </p:txBody>
      </p:sp>
      <p:sp>
        <p:nvSpPr>
          <p:cNvPr id="7" name="TextBox 6"/>
          <p:cNvSpPr txBox="1"/>
          <p:nvPr/>
        </p:nvSpPr>
        <p:spPr>
          <a:xfrm>
            <a:off x="1188720" y="1280160"/>
            <a:ext cx="10058400" cy="365760"/>
          </a:xfrm>
          <a:prstGeom prst="rect">
            <a:avLst/>
          </a:prstGeom>
          <a:noFill/>
        </p:spPr>
        <p:txBody>
          <a:bodyPr wrap="none">
            <a:spAutoFit/>
          </a:bodyPr>
          <a:lstStyle/>
          <a:p>
            <a:pPr>
              <a:defRPr sz="1800" b="1">
                <a:solidFill>
                  <a:srgbClr val="FFFFFF"/>
                </a:solidFill>
                <a:latin typeface="Segoe UI"/>
              </a:defRPr>
            </a:pPr>
            <a:r>
              <a:t>Adopt the 3-Layer Verification Model</a:t>
            </a:r>
          </a:p>
        </p:txBody>
      </p:sp>
      <p:sp>
        <p:nvSpPr>
          <p:cNvPr id="8" name="TextBox 7"/>
          <p:cNvSpPr txBox="1"/>
          <p:nvPr/>
        </p:nvSpPr>
        <p:spPr>
          <a:xfrm>
            <a:off x="1188720" y="1645920"/>
            <a:ext cx="10058400" cy="731520"/>
          </a:xfrm>
          <a:prstGeom prst="rect">
            <a:avLst/>
          </a:prstGeom>
          <a:noFill/>
        </p:spPr>
        <p:txBody>
          <a:bodyPr wrap="square">
            <a:spAutoFit/>
          </a:bodyPr>
          <a:lstStyle/>
          <a:p>
            <a:pPr>
              <a:lnSpc>
                <a:spcPct val="120000"/>
              </a:lnSpc>
              <a:defRPr sz="1400">
                <a:solidFill>
                  <a:srgbClr val="B4B4C8"/>
                </a:solidFill>
                <a:latin typeface="Segoe UI"/>
              </a:defRPr>
            </a:pPr>
            <a:r>
              <a:t>Separate format checks (Layer 0), semantic linting (Layer 1), and runtime contract tests (Layer 2). No existing tool does all three—build the glue.</a:t>
            </a:r>
          </a:p>
        </p:txBody>
      </p:sp>
      <p:sp>
        <p:nvSpPr>
          <p:cNvPr id="9" name="Oval 8"/>
          <p:cNvSpPr/>
          <p:nvPr/>
        </p:nvSpPr>
        <p:spPr>
          <a:xfrm>
            <a:off x="548640" y="2651760"/>
            <a:ext cx="457200" cy="457200"/>
          </a:xfrm>
          <a:prstGeom prst="ellipse">
            <a:avLst/>
          </a:prstGeom>
          <a:solidFill>
            <a:srgbClr val="34DA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651760"/>
            <a:ext cx="457200" cy="457200"/>
          </a:xfrm>
          <a:prstGeom prst="rect">
            <a:avLst/>
          </a:prstGeom>
          <a:noFill/>
        </p:spPr>
        <p:txBody>
          <a:bodyPr wrap="none">
            <a:spAutoFit/>
          </a:bodyPr>
          <a:lstStyle/>
          <a:p>
            <a:pPr algn="ctr">
              <a:defRPr sz="1600" b="1">
                <a:solidFill>
                  <a:srgbClr val="FFFFFF"/>
                </a:solidFill>
                <a:latin typeface="Segoe UI"/>
              </a:defRPr>
            </a:pPr>
            <a:r>
              <a:t>2</a:t>
            </a:r>
          </a:p>
        </p:txBody>
      </p:sp>
      <p:sp>
        <p:nvSpPr>
          <p:cNvPr id="11" name="TextBox 10"/>
          <p:cNvSpPr txBox="1"/>
          <p:nvPr/>
        </p:nvSpPr>
        <p:spPr>
          <a:xfrm>
            <a:off x="1188720" y="2651760"/>
            <a:ext cx="10058400" cy="365760"/>
          </a:xfrm>
          <a:prstGeom prst="rect">
            <a:avLst/>
          </a:prstGeom>
          <a:noFill/>
        </p:spPr>
        <p:txBody>
          <a:bodyPr wrap="none">
            <a:spAutoFit/>
          </a:bodyPr>
          <a:lstStyle/>
          <a:p>
            <a:pPr>
              <a:defRPr sz="1800" b="1">
                <a:solidFill>
                  <a:srgbClr val="FFFFFF"/>
                </a:solidFill>
                <a:latin typeface="Segoe UI"/>
              </a:defRPr>
            </a:pPr>
            <a:r>
              <a:t>Replace completion rate with CuP</a:t>
            </a:r>
          </a:p>
        </p:txBody>
      </p:sp>
      <p:sp>
        <p:nvSpPr>
          <p:cNvPr id="12" name="TextBox 11"/>
          <p:cNvSpPr txBox="1"/>
          <p:nvPr/>
        </p:nvSpPr>
        <p:spPr>
          <a:xfrm>
            <a:off x="1188720" y="3017520"/>
            <a:ext cx="10058400" cy="731520"/>
          </a:xfrm>
          <a:prstGeom prst="rect">
            <a:avLst/>
          </a:prstGeom>
          <a:noFill/>
        </p:spPr>
        <p:txBody>
          <a:bodyPr wrap="square">
            <a:spAutoFit/>
          </a:bodyPr>
          <a:lstStyle/>
          <a:p>
            <a:pPr>
              <a:lnSpc>
                <a:spcPct val="120000"/>
              </a:lnSpc>
              <a:defRPr sz="1400">
                <a:solidFill>
                  <a:srgbClr val="B4B4C8"/>
                </a:solidFill>
                <a:latin typeface="Segoe UI"/>
              </a:defRPr>
            </a:pPr>
            <a:r>
              <a:t>Completion Under Policy (from ST-WebAgentBench) is the primary metric. Optimizing completion without policy awareness is dangerous.</a:t>
            </a:r>
          </a:p>
        </p:txBody>
      </p:sp>
      <p:sp>
        <p:nvSpPr>
          <p:cNvPr id="13" name="Oval 12"/>
          <p:cNvSpPr/>
          <p:nvPr/>
        </p:nvSpPr>
        <p:spPr>
          <a:xfrm>
            <a:off x="548640" y="4023360"/>
            <a:ext cx="457200" cy="457200"/>
          </a:xfrm>
          <a:prstGeom prst="ellipse">
            <a:avLst/>
          </a:prstGeom>
          <a:solidFill>
            <a:srgbClr val="34DA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023360"/>
            <a:ext cx="457200" cy="457200"/>
          </a:xfrm>
          <a:prstGeom prst="rect">
            <a:avLst/>
          </a:prstGeom>
          <a:noFill/>
        </p:spPr>
        <p:txBody>
          <a:bodyPr wrap="none">
            <a:spAutoFit/>
          </a:bodyPr>
          <a:lstStyle/>
          <a:p>
            <a:pPr algn="ctr">
              <a:defRPr sz="1600" b="1">
                <a:solidFill>
                  <a:srgbClr val="FFFFFF"/>
                </a:solidFill>
                <a:latin typeface="Segoe UI"/>
              </a:defRPr>
            </a:pPr>
            <a:r>
              <a:t>3</a:t>
            </a:r>
          </a:p>
        </p:txBody>
      </p:sp>
      <p:sp>
        <p:nvSpPr>
          <p:cNvPr id="15" name="TextBox 14"/>
          <p:cNvSpPr txBox="1"/>
          <p:nvPr/>
        </p:nvSpPr>
        <p:spPr>
          <a:xfrm>
            <a:off x="1188720" y="4023360"/>
            <a:ext cx="10058400" cy="365760"/>
          </a:xfrm>
          <a:prstGeom prst="rect">
            <a:avLst/>
          </a:prstGeom>
          <a:noFill/>
        </p:spPr>
        <p:txBody>
          <a:bodyPr wrap="none">
            <a:spAutoFit/>
          </a:bodyPr>
          <a:lstStyle/>
          <a:p>
            <a:pPr>
              <a:defRPr sz="1800" b="1">
                <a:solidFill>
                  <a:srgbClr val="FFFFFF"/>
                </a:solidFill>
                <a:latin typeface="Segoe UI"/>
              </a:defRPr>
            </a:pPr>
            <a:r>
              <a:t>Map your agent to OWASP Top 10</a:t>
            </a:r>
          </a:p>
        </p:txBody>
      </p:sp>
      <p:sp>
        <p:nvSpPr>
          <p:cNvPr id="16" name="TextBox 15"/>
          <p:cNvSpPr txBox="1"/>
          <p:nvPr/>
        </p:nvSpPr>
        <p:spPr>
          <a:xfrm>
            <a:off x="1188720" y="4389120"/>
            <a:ext cx="10058400" cy="731520"/>
          </a:xfrm>
          <a:prstGeom prst="rect">
            <a:avLst/>
          </a:prstGeom>
          <a:noFill/>
        </p:spPr>
        <p:txBody>
          <a:bodyPr wrap="square">
            <a:spAutoFit/>
          </a:bodyPr>
          <a:lstStyle/>
          <a:p>
            <a:pPr>
              <a:lnSpc>
                <a:spcPct val="120000"/>
              </a:lnSpc>
              <a:defRPr sz="1400">
                <a:solidFill>
                  <a:srgbClr val="B4B4C8"/>
                </a:solidFill>
                <a:latin typeface="Segoe UI"/>
              </a:defRPr>
            </a:pPr>
            <a:r>
              <a:t>Identify which risks your system currently has no mitigation for. EU AI Act high-risk obligations take effect August 2026.</a:t>
            </a:r>
          </a:p>
        </p:txBody>
      </p:sp>
      <p:sp>
        <p:nvSpPr>
          <p:cNvPr id="17" name="Oval 16"/>
          <p:cNvSpPr/>
          <p:nvPr/>
        </p:nvSpPr>
        <p:spPr>
          <a:xfrm>
            <a:off x="548640" y="5394960"/>
            <a:ext cx="457200" cy="457200"/>
          </a:xfrm>
          <a:prstGeom prst="ellipse">
            <a:avLst/>
          </a:prstGeom>
          <a:solidFill>
            <a:srgbClr val="34DA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394960"/>
            <a:ext cx="457200" cy="457200"/>
          </a:xfrm>
          <a:prstGeom prst="rect">
            <a:avLst/>
          </a:prstGeom>
          <a:noFill/>
        </p:spPr>
        <p:txBody>
          <a:bodyPr wrap="none">
            <a:spAutoFit/>
          </a:bodyPr>
          <a:lstStyle/>
          <a:p>
            <a:pPr algn="ctr">
              <a:defRPr sz="1600" b="1">
                <a:solidFill>
                  <a:srgbClr val="FFFFFF"/>
                </a:solidFill>
                <a:latin typeface="Segoe UI"/>
              </a:defRPr>
            </a:pPr>
            <a:r>
              <a:t>4</a:t>
            </a:r>
          </a:p>
        </p:txBody>
      </p:sp>
      <p:sp>
        <p:nvSpPr>
          <p:cNvPr id="19" name="TextBox 18"/>
          <p:cNvSpPr txBox="1"/>
          <p:nvPr/>
        </p:nvSpPr>
        <p:spPr>
          <a:xfrm>
            <a:off x="1188720" y="5394960"/>
            <a:ext cx="10058400" cy="365760"/>
          </a:xfrm>
          <a:prstGeom prst="rect">
            <a:avLst/>
          </a:prstGeom>
          <a:noFill/>
        </p:spPr>
        <p:txBody>
          <a:bodyPr wrap="none">
            <a:spAutoFit/>
          </a:bodyPr>
          <a:lstStyle/>
          <a:p>
            <a:pPr>
              <a:defRPr sz="1800" b="1">
                <a:solidFill>
                  <a:srgbClr val="FFFFFF"/>
                </a:solidFill>
                <a:latin typeface="Segoe UI"/>
              </a:defRPr>
            </a:pPr>
            <a:r>
              <a:t>Run BeSafe-Bench or ST-WebAgentBench</a:t>
            </a:r>
          </a:p>
        </p:txBody>
      </p:sp>
      <p:sp>
        <p:nvSpPr>
          <p:cNvPr id="20" name="TextBox 19"/>
          <p:cNvSpPr txBox="1"/>
          <p:nvPr/>
        </p:nvSpPr>
        <p:spPr>
          <a:xfrm>
            <a:off x="1188720" y="5760720"/>
            <a:ext cx="10058400" cy="731520"/>
          </a:xfrm>
          <a:prstGeom prst="rect">
            <a:avLst/>
          </a:prstGeom>
          <a:noFill/>
        </p:spPr>
        <p:txBody>
          <a:bodyPr wrap="square">
            <a:spAutoFit/>
          </a:bodyPr>
          <a:lstStyle/>
          <a:p>
            <a:pPr>
              <a:lnSpc>
                <a:spcPct val="120000"/>
              </a:lnSpc>
              <a:defRPr sz="1400">
                <a:solidFill>
                  <a:srgbClr val="B4B4C8"/>
                </a:solidFill>
                <a:latin typeface="Segoe UI"/>
              </a:defRPr>
            </a:pPr>
            <a:r>
              <a:t>If your agent operates in web, mobile, or embodied domains, you need to know where you stand. Best agents fail 60%+ of safety scenarios.</a:t>
            </a:r>
          </a:p>
        </p:txBody>
      </p:sp>
      <p:sp>
        <p:nvSpPr>
          <p:cNvPr id="21" name="Rectangle 20"/>
          <p:cNvSpPr/>
          <p:nvPr/>
        </p:nvSpPr>
        <p:spPr>
          <a:xfrm>
            <a:off x="0" y="6821424"/>
            <a:ext cx="12191695" cy="36576"/>
          </a:xfrm>
          <a:prstGeom prst="rect">
            <a:avLst/>
          </a:prstGeom>
          <a:solidFill>
            <a:srgbClr val="34DA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0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4DA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65760"/>
            <a:ext cx="10972800" cy="731520"/>
          </a:xfrm>
          <a:prstGeom prst="rect">
            <a:avLst/>
          </a:prstGeom>
          <a:noFill/>
        </p:spPr>
        <p:txBody>
          <a:bodyPr wrap="none">
            <a:spAutoFit/>
          </a:bodyPr>
          <a:lstStyle/>
          <a:p>
            <a:pPr>
              <a:defRPr sz="3200" b="1">
                <a:solidFill>
                  <a:srgbClr val="FFFFFF"/>
                </a:solidFill>
                <a:latin typeface="Segoe UI"/>
              </a:defRPr>
            </a:pPr>
            <a:r>
              <a:t>Short-Term (Next 90 Days)</a:t>
            </a:r>
          </a:p>
        </p:txBody>
      </p:sp>
      <p:sp>
        <p:nvSpPr>
          <p:cNvPr id="5" name="Oval 4"/>
          <p:cNvSpPr/>
          <p:nvPr/>
        </p:nvSpPr>
        <p:spPr>
          <a:xfrm>
            <a:off x="548640" y="1280160"/>
            <a:ext cx="457200" cy="457200"/>
          </a:xfrm>
          <a:prstGeom prst="ellipse">
            <a:avLst/>
          </a:prstGeom>
          <a:solidFill>
            <a:srgbClr val="34DA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280160"/>
            <a:ext cx="457200" cy="457200"/>
          </a:xfrm>
          <a:prstGeom prst="rect">
            <a:avLst/>
          </a:prstGeom>
          <a:noFill/>
        </p:spPr>
        <p:txBody>
          <a:bodyPr wrap="none">
            <a:spAutoFit/>
          </a:bodyPr>
          <a:lstStyle/>
          <a:p>
            <a:pPr algn="ctr">
              <a:defRPr sz="1600" b="1">
                <a:solidFill>
                  <a:srgbClr val="FFFFFF"/>
                </a:solidFill>
                <a:latin typeface="Segoe UI"/>
              </a:defRPr>
            </a:pPr>
            <a:r>
              <a:t>5</a:t>
            </a:r>
          </a:p>
        </p:txBody>
      </p:sp>
      <p:sp>
        <p:nvSpPr>
          <p:cNvPr id="7" name="TextBox 6"/>
          <p:cNvSpPr txBox="1"/>
          <p:nvPr/>
        </p:nvSpPr>
        <p:spPr>
          <a:xfrm>
            <a:off x="1188720" y="1280160"/>
            <a:ext cx="10058400" cy="365760"/>
          </a:xfrm>
          <a:prstGeom prst="rect">
            <a:avLst/>
          </a:prstGeom>
          <a:noFill/>
        </p:spPr>
        <p:txBody>
          <a:bodyPr wrap="none">
            <a:spAutoFit/>
          </a:bodyPr>
          <a:lstStyle/>
          <a:p>
            <a:pPr>
              <a:defRPr sz="1800" b="1">
                <a:solidFill>
                  <a:srgbClr val="FFFFFF"/>
                </a:solidFill>
                <a:latin typeface="Segoe UI"/>
              </a:defRPr>
            </a:pPr>
            <a:r>
              <a:t>Implement deterministic policy enforcement</a:t>
            </a:r>
          </a:p>
        </p:txBody>
      </p:sp>
      <p:sp>
        <p:nvSpPr>
          <p:cNvPr id="8" name="TextBox 7"/>
          <p:cNvSpPr txBox="1"/>
          <p:nvPr/>
        </p:nvSpPr>
        <p:spPr>
          <a:xfrm>
            <a:off x="1188720" y="1645920"/>
            <a:ext cx="10058400" cy="731520"/>
          </a:xfrm>
          <a:prstGeom prst="rect">
            <a:avLst/>
          </a:prstGeom>
          <a:noFill/>
        </p:spPr>
        <p:txBody>
          <a:bodyPr wrap="square">
            <a:spAutoFit/>
          </a:bodyPr>
          <a:lstStyle/>
          <a:p>
            <a:pPr>
              <a:lnSpc>
                <a:spcPct val="120000"/>
              </a:lnSpc>
              <a:defRPr sz="1400">
                <a:solidFill>
                  <a:srgbClr val="B4B4C8"/>
                </a:solidFill>
                <a:latin typeface="Segoe UI"/>
              </a:defRPr>
            </a:pPr>
            <a:r>
              <a:t>Sub-millisecond, deterministic policy enforcement (Microsoft Toolkit or equivalent) is the only way to guarantee safety under pressure.</a:t>
            </a:r>
          </a:p>
        </p:txBody>
      </p:sp>
      <p:sp>
        <p:nvSpPr>
          <p:cNvPr id="9" name="Oval 8"/>
          <p:cNvSpPr/>
          <p:nvPr/>
        </p:nvSpPr>
        <p:spPr>
          <a:xfrm>
            <a:off x="548640" y="2651760"/>
            <a:ext cx="457200" cy="457200"/>
          </a:xfrm>
          <a:prstGeom prst="ellipse">
            <a:avLst/>
          </a:prstGeom>
          <a:solidFill>
            <a:srgbClr val="34DA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651760"/>
            <a:ext cx="457200" cy="457200"/>
          </a:xfrm>
          <a:prstGeom prst="rect">
            <a:avLst/>
          </a:prstGeom>
          <a:noFill/>
        </p:spPr>
        <p:txBody>
          <a:bodyPr wrap="none">
            <a:spAutoFit/>
          </a:bodyPr>
          <a:lstStyle/>
          <a:p>
            <a:pPr algn="ctr">
              <a:defRPr sz="1600" b="1">
                <a:solidFill>
                  <a:srgbClr val="FFFFFF"/>
                </a:solidFill>
                <a:latin typeface="Segoe UI"/>
              </a:defRPr>
            </a:pPr>
            <a:r>
              <a:t>6</a:t>
            </a:r>
          </a:p>
        </p:txBody>
      </p:sp>
      <p:sp>
        <p:nvSpPr>
          <p:cNvPr id="11" name="TextBox 10"/>
          <p:cNvSpPr txBox="1"/>
          <p:nvPr/>
        </p:nvSpPr>
        <p:spPr>
          <a:xfrm>
            <a:off x="1188720" y="2651760"/>
            <a:ext cx="10058400" cy="365760"/>
          </a:xfrm>
          <a:prstGeom prst="rect">
            <a:avLst/>
          </a:prstGeom>
          <a:noFill/>
        </p:spPr>
        <p:txBody>
          <a:bodyPr wrap="none">
            <a:spAutoFit/>
          </a:bodyPr>
          <a:lstStyle/>
          <a:p>
            <a:pPr>
              <a:defRPr sz="1800" b="1">
                <a:solidFill>
                  <a:srgbClr val="FFFFFF"/>
                </a:solidFill>
                <a:latin typeface="Segoe UI"/>
              </a:defRPr>
            </a:pPr>
            <a:r>
              <a:t>Build a skill spec linter beyond format checks</a:t>
            </a:r>
          </a:p>
        </p:txBody>
      </p:sp>
      <p:sp>
        <p:nvSpPr>
          <p:cNvPr id="12" name="TextBox 11"/>
          <p:cNvSpPr txBox="1"/>
          <p:nvPr/>
        </p:nvSpPr>
        <p:spPr>
          <a:xfrm>
            <a:off x="1188720" y="3017520"/>
            <a:ext cx="10058400" cy="731520"/>
          </a:xfrm>
          <a:prstGeom prst="rect">
            <a:avLst/>
          </a:prstGeom>
          <a:noFill/>
        </p:spPr>
        <p:txBody>
          <a:bodyPr wrap="square">
            <a:spAutoFit/>
          </a:bodyPr>
          <a:lstStyle/>
          <a:p>
            <a:pPr>
              <a:lnSpc>
                <a:spcPct val="120000"/>
              </a:lnSpc>
              <a:defRPr sz="1400">
                <a:solidFill>
                  <a:srgbClr val="B4B4C8"/>
                </a:solidFill>
                <a:latin typeface="Segoe UI"/>
              </a:defRPr>
            </a:pPr>
            <a:r>
              <a:t>Verify tool existence, signature matching, boundary description completeness, and version compatibility. Most skill failures originate here.</a:t>
            </a:r>
          </a:p>
        </p:txBody>
      </p:sp>
      <p:sp>
        <p:nvSpPr>
          <p:cNvPr id="13" name="Oval 12"/>
          <p:cNvSpPr/>
          <p:nvPr/>
        </p:nvSpPr>
        <p:spPr>
          <a:xfrm>
            <a:off x="548640" y="4023360"/>
            <a:ext cx="457200" cy="457200"/>
          </a:xfrm>
          <a:prstGeom prst="ellipse">
            <a:avLst/>
          </a:prstGeom>
          <a:solidFill>
            <a:srgbClr val="34DA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023360"/>
            <a:ext cx="457200" cy="457200"/>
          </a:xfrm>
          <a:prstGeom prst="rect">
            <a:avLst/>
          </a:prstGeom>
          <a:noFill/>
        </p:spPr>
        <p:txBody>
          <a:bodyPr wrap="none">
            <a:spAutoFit/>
          </a:bodyPr>
          <a:lstStyle/>
          <a:p>
            <a:pPr algn="ctr">
              <a:defRPr sz="1600" b="1">
                <a:solidFill>
                  <a:srgbClr val="FFFFFF"/>
                </a:solidFill>
                <a:latin typeface="Segoe UI"/>
              </a:defRPr>
            </a:pPr>
            <a:r>
              <a:t>7</a:t>
            </a:r>
          </a:p>
        </p:txBody>
      </p:sp>
      <p:sp>
        <p:nvSpPr>
          <p:cNvPr id="15" name="TextBox 14"/>
          <p:cNvSpPr txBox="1"/>
          <p:nvPr/>
        </p:nvSpPr>
        <p:spPr>
          <a:xfrm>
            <a:off x="1188720" y="4023360"/>
            <a:ext cx="10058400" cy="365760"/>
          </a:xfrm>
          <a:prstGeom prst="rect">
            <a:avLst/>
          </a:prstGeom>
          <a:noFill/>
        </p:spPr>
        <p:txBody>
          <a:bodyPr wrap="none">
            <a:spAutoFit/>
          </a:bodyPr>
          <a:lstStyle/>
          <a:p>
            <a:pPr>
              <a:defRPr sz="1800" b="1">
                <a:solidFill>
                  <a:srgbClr val="FFFFFF"/>
                </a:solidFill>
                <a:latin typeface="Segoe UI"/>
              </a:defRPr>
            </a:pPr>
            <a:r>
              <a:t>Add non-bypassable human-in-the-loop hooks</a:t>
            </a:r>
          </a:p>
        </p:txBody>
      </p:sp>
      <p:sp>
        <p:nvSpPr>
          <p:cNvPr id="16" name="TextBox 15"/>
          <p:cNvSpPr txBox="1"/>
          <p:nvPr/>
        </p:nvSpPr>
        <p:spPr>
          <a:xfrm>
            <a:off x="1188720" y="4389120"/>
            <a:ext cx="10058400" cy="731520"/>
          </a:xfrm>
          <a:prstGeom prst="rect">
            <a:avLst/>
          </a:prstGeom>
          <a:noFill/>
        </p:spPr>
        <p:txBody>
          <a:bodyPr wrap="square">
            <a:spAutoFit/>
          </a:bodyPr>
          <a:lstStyle/>
          <a:p>
            <a:pPr>
              <a:lnSpc>
                <a:spcPct val="120000"/>
              </a:lnSpc>
              <a:defRPr sz="1400">
                <a:solidFill>
                  <a:srgbClr val="B4B4C8"/>
                </a:solidFill>
                <a:latin typeface="Segoe UI"/>
              </a:defRPr>
            </a:pPr>
            <a:r>
              <a:t>ST-WebAgentBench found agents routinely bypass 'ask the user' safeguards. Make these non-bypassable at the runtime layer.</a:t>
            </a:r>
          </a:p>
        </p:txBody>
      </p:sp>
      <p:sp>
        <p:nvSpPr>
          <p:cNvPr id="17" name="Oval 16"/>
          <p:cNvSpPr/>
          <p:nvPr/>
        </p:nvSpPr>
        <p:spPr>
          <a:xfrm>
            <a:off x="548640" y="5394960"/>
            <a:ext cx="457200" cy="457200"/>
          </a:xfrm>
          <a:prstGeom prst="ellipse">
            <a:avLst/>
          </a:prstGeom>
          <a:solidFill>
            <a:srgbClr val="34DA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394960"/>
            <a:ext cx="457200" cy="457200"/>
          </a:xfrm>
          <a:prstGeom prst="rect">
            <a:avLst/>
          </a:prstGeom>
          <a:noFill/>
        </p:spPr>
        <p:txBody>
          <a:bodyPr wrap="none">
            <a:spAutoFit/>
          </a:bodyPr>
          <a:lstStyle/>
          <a:p>
            <a:pPr algn="ctr">
              <a:defRPr sz="1600" b="1">
                <a:solidFill>
                  <a:srgbClr val="FFFFFF"/>
                </a:solidFill>
                <a:latin typeface="Segoe UI"/>
              </a:defRPr>
            </a:pPr>
            <a:r>
              <a:t>8</a:t>
            </a:r>
          </a:p>
        </p:txBody>
      </p:sp>
      <p:sp>
        <p:nvSpPr>
          <p:cNvPr id="19" name="TextBox 18"/>
          <p:cNvSpPr txBox="1"/>
          <p:nvPr/>
        </p:nvSpPr>
        <p:spPr>
          <a:xfrm>
            <a:off x="1188720" y="5394960"/>
            <a:ext cx="10058400" cy="365760"/>
          </a:xfrm>
          <a:prstGeom prst="rect">
            <a:avLst/>
          </a:prstGeom>
          <a:noFill/>
        </p:spPr>
        <p:txBody>
          <a:bodyPr wrap="none">
            <a:spAutoFit/>
          </a:bodyPr>
          <a:lstStyle/>
          <a:p>
            <a:pPr>
              <a:defRPr sz="1800" b="1">
                <a:solidFill>
                  <a:srgbClr val="FFFFFF"/>
                </a:solidFill>
                <a:latin typeface="Segoe UI"/>
              </a:defRPr>
            </a:pPr>
            <a:r>
              <a:t>Instrument the 12 production metrics</a:t>
            </a:r>
          </a:p>
        </p:txBody>
      </p:sp>
      <p:sp>
        <p:nvSpPr>
          <p:cNvPr id="20" name="TextBox 19"/>
          <p:cNvSpPr txBox="1"/>
          <p:nvPr/>
        </p:nvSpPr>
        <p:spPr>
          <a:xfrm>
            <a:off x="1188720" y="5760720"/>
            <a:ext cx="10058400" cy="731520"/>
          </a:xfrm>
          <a:prstGeom prst="rect">
            <a:avLst/>
          </a:prstGeom>
          <a:noFill/>
        </p:spPr>
        <p:txBody>
          <a:bodyPr wrap="square">
            <a:spAutoFit/>
          </a:bodyPr>
          <a:lstStyle/>
          <a:p>
            <a:pPr>
              <a:lnSpc>
                <a:spcPct val="120000"/>
              </a:lnSpc>
              <a:defRPr sz="1400">
                <a:solidFill>
                  <a:srgbClr val="B4B4C8"/>
                </a:solidFill>
                <a:latin typeface="Segoe UI"/>
              </a:defRPr>
            </a:pPr>
            <a:r>
              <a:t>Especially Safety Violation Rate and Policy Compliance Rate. You cannot manage what you do not measure.</a:t>
            </a:r>
          </a:p>
        </p:txBody>
      </p:sp>
      <p:sp>
        <p:nvSpPr>
          <p:cNvPr id="21" name="Rectangle 20"/>
          <p:cNvSpPr/>
          <p:nvPr/>
        </p:nvSpPr>
        <p:spPr>
          <a:xfrm>
            <a:off x="0" y="6821424"/>
            <a:ext cx="12191695" cy="36576"/>
          </a:xfrm>
          <a:prstGeom prst="rect">
            <a:avLst/>
          </a:prstGeom>
          <a:solidFill>
            <a:srgbClr val="34DA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0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4DA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65760"/>
            <a:ext cx="10972800" cy="731520"/>
          </a:xfrm>
          <a:prstGeom prst="rect">
            <a:avLst/>
          </a:prstGeom>
          <a:noFill/>
        </p:spPr>
        <p:txBody>
          <a:bodyPr wrap="none">
            <a:spAutoFit/>
          </a:bodyPr>
          <a:lstStyle/>
          <a:p>
            <a:pPr>
              <a:defRPr sz="3200" b="1">
                <a:solidFill>
                  <a:srgbClr val="FFFFFF"/>
                </a:solidFill>
                <a:latin typeface="Segoe UI"/>
              </a:defRPr>
            </a:pPr>
            <a:r>
              <a:t>Strategic (Next 12 Months)</a:t>
            </a:r>
          </a:p>
        </p:txBody>
      </p:sp>
      <p:sp>
        <p:nvSpPr>
          <p:cNvPr id="5" name="Oval 4"/>
          <p:cNvSpPr/>
          <p:nvPr/>
        </p:nvSpPr>
        <p:spPr>
          <a:xfrm>
            <a:off x="548640" y="1280160"/>
            <a:ext cx="457200" cy="457200"/>
          </a:xfrm>
          <a:prstGeom prst="ellipse">
            <a:avLst/>
          </a:prstGeom>
          <a:solidFill>
            <a:srgbClr val="34DA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280160"/>
            <a:ext cx="457200" cy="457200"/>
          </a:xfrm>
          <a:prstGeom prst="rect">
            <a:avLst/>
          </a:prstGeom>
          <a:noFill/>
        </p:spPr>
        <p:txBody>
          <a:bodyPr wrap="none">
            <a:spAutoFit/>
          </a:bodyPr>
          <a:lstStyle/>
          <a:p>
            <a:pPr algn="ctr">
              <a:defRPr sz="1600" b="1">
                <a:solidFill>
                  <a:srgbClr val="FFFFFF"/>
                </a:solidFill>
                <a:latin typeface="Segoe UI"/>
              </a:defRPr>
            </a:pPr>
            <a:r>
              <a:t>9</a:t>
            </a:r>
          </a:p>
        </p:txBody>
      </p:sp>
      <p:sp>
        <p:nvSpPr>
          <p:cNvPr id="7" name="TextBox 6"/>
          <p:cNvSpPr txBox="1"/>
          <p:nvPr/>
        </p:nvSpPr>
        <p:spPr>
          <a:xfrm>
            <a:off x="1188720" y="1280160"/>
            <a:ext cx="10058400" cy="365760"/>
          </a:xfrm>
          <a:prstGeom prst="rect">
            <a:avLst/>
          </a:prstGeom>
          <a:noFill/>
        </p:spPr>
        <p:txBody>
          <a:bodyPr wrap="none">
            <a:spAutoFit/>
          </a:bodyPr>
          <a:lstStyle/>
          <a:p>
            <a:pPr>
              <a:defRPr sz="1800" b="1">
                <a:solidFill>
                  <a:srgbClr val="FFFFFF"/>
                </a:solidFill>
                <a:latin typeface="Segoe UI"/>
              </a:defRPr>
            </a:pPr>
            <a:r>
              <a:t>Contribute to / adopt cross-layer verification</a:t>
            </a:r>
          </a:p>
        </p:txBody>
      </p:sp>
      <p:sp>
        <p:nvSpPr>
          <p:cNvPr id="8" name="TextBox 7"/>
          <p:cNvSpPr txBox="1"/>
          <p:nvPr/>
        </p:nvSpPr>
        <p:spPr>
          <a:xfrm>
            <a:off x="1188720" y="1645920"/>
            <a:ext cx="10058400" cy="731520"/>
          </a:xfrm>
          <a:prstGeom prst="rect">
            <a:avLst/>
          </a:prstGeom>
          <a:noFill/>
        </p:spPr>
        <p:txBody>
          <a:bodyPr wrap="square">
            <a:spAutoFit/>
          </a:bodyPr>
          <a:lstStyle/>
          <a:p>
            <a:pPr>
              <a:lnSpc>
                <a:spcPct val="120000"/>
              </a:lnSpc>
              <a:defRPr sz="1400">
                <a:solidFill>
                  <a:srgbClr val="B4B4C8"/>
                </a:solidFill>
                <a:latin typeface="Segoe UI"/>
              </a:defRPr>
            </a:pPr>
            <a:r>
              <a:t>Connect SKILL.md specs → runtime policy → behavioral benchmarks. The industry needs a vertical proof. Research opportunity.</a:t>
            </a:r>
          </a:p>
        </p:txBody>
      </p:sp>
      <p:sp>
        <p:nvSpPr>
          <p:cNvPr id="9" name="Oval 8"/>
          <p:cNvSpPr/>
          <p:nvPr/>
        </p:nvSpPr>
        <p:spPr>
          <a:xfrm>
            <a:off x="548640" y="2651760"/>
            <a:ext cx="457200" cy="457200"/>
          </a:xfrm>
          <a:prstGeom prst="ellipse">
            <a:avLst/>
          </a:prstGeom>
          <a:solidFill>
            <a:srgbClr val="34DA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651760"/>
            <a:ext cx="457200" cy="457200"/>
          </a:xfrm>
          <a:prstGeom prst="rect">
            <a:avLst/>
          </a:prstGeom>
          <a:noFill/>
        </p:spPr>
        <p:txBody>
          <a:bodyPr wrap="none">
            <a:spAutoFit/>
          </a:bodyPr>
          <a:lstStyle/>
          <a:p>
            <a:pPr algn="ctr">
              <a:defRPr sz="1600" b="1">
                <a:solidFill>
                  <a:srgbClr val="FFFFFF"/>
                </a:solidFill>
                <a:latin typeface="Segoe UI"/>
              </a:defRPr>
            </a:pPr>
            <a:r>
              <a:t>10</a:t>
            </a:r>
          </a:p>
        </p:txBody>
      </p:sp>
      <p:sp>
        <p:nvSpPr>
          <p:cNvPr id="11" name="TextBox 10"/>
          <p:cNvSpPr txBox="1"/>
          <p:nvPr/>
        </p:nvSpPr>
        <p:spPr>
          <a:xfrm>
            <a:off x="1188720" y="2651760"/>
            <a:ext cx="10058400" cy="365760"/>
          </a:xfrm>
          <a:prstGeom prst="rect">
            <a:avLst/>
          </a:prstGeom>
          <a:noFill/>
        </p:spPr>
        <p:txBody>
          <a:bodyPr wrap="none">
            <a:spAutoFit/>
          </a:bodyPr>
          <a:lstStyle/>
          <a:p>
            <a:pPr>
              <a:defRPr sz="1800" b="1">
                <a:solidFill>
                  <a:srgbClr val="FFFFFF"/>
                </a:solidFill>
                <a:latin typeface="Segoe UI"/>
              </a:defRPr>
            </a:pPr>
            <a:r>
              <a:t>Prepare for EU AI Act high-risk obligations</a:t>
            </a:r>
          </a:p>
        </p:txBody>
      </p:sp>
      <p:sp>
        <p:nvSpPr>
          <p:cNvPr id="12" name="TextBox 11"/>
          <p:cNvSpPr txBox="1"/>
          <p:nvPr/>
        </p:nvSpPr>
        <p:spPr>
          <a:xfrm>
            <a:off x="1188720" y="3017520"/>
            <a:ext cx="10058400" cy="731520"/>
          </a:xfrm>
          <a:prstGeom prst="rect">
            <a:avLst/>
          </a:prstGeom>
          <a:noFill/>
        </p:spPr>
        <p:txBody>
          <a:bodyPr wrap="square">
            <a:spAutoFit/>
          </a:bodyPr>
          <a:lstStyle/>
          <a:p>
            <a:pPr>
              <a:lnSpc>
                <a:spcPct val="120000"/>
              </a:lnSpc>
              <a:defRPr sz="1400">
                <a:solidFill>
                  <a:srgbClr val="B4B4C8"/>
                </a:solidFill>
                <a:latin typeface="Segoe UI"/>
              </a:defRPr>
            </a:pPr>
            <a:r>
              <a:t>August 2026 deadline. Document risk management systems, automatic event logging, and human oversight. Penalties: up to €15M or 3% of turnover.</a:t>
            </a:r>
          </a:p>
        </p:txBody>
      </p:sp>
      <p:sp>
        <p:nvSpPr>
          <p:cNvPr id="13" name="Oval 12"/>
          <p:cNvSpPr/>
          <p:nvPr/>
        </p:nvSpPr>
        <p:spPr>
          <a:xfrm>
            <a:off x="548640" y="4023360"/>
            <a:ext cx="457200" cy="457200"/>
          </a:xfrm>
          <a:prstGeom prst="ellipse">
            <a:avLst/>
          </a:prstGeom>
          <a:solidFill>
            <a:srgbClr val="34DA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023360"/>
            <a:ext cx="457200" cy="457200"/>
          </a:xfrm>
          <a:prstGeom prst="rect">
            <a:avLst/>
          </a:prstGeom>
          <a:noFill/>
        </p:spPr>
        <p:txBody>
          <a:bodyPr wrap="none">
            <a:spAutoFit/>
          </a:bodyPr>
          <a:lstStyle/>
          <a:p>
            <a:pPr algn="ctr">
              <a:defRPr sz="1600" b="1">
                <a:solidFill>
                  <a:srgbClr val="FFFFFF"/>
                </a:solidFill>
                <a:latin typeface="Segoe UI"/>
              </a:defRPr>
            </a:pPr>
            <a:r>
              <a:t>11</a:t>
            </a:r>
          </a:p>
        </p:txBody>
      </p:sp>
      <p:sp>
        <p:nvSpPr>
          <p:cNvPr id="15" name="TextBox 14"/>
          <p:cNvSpPr txBox="1"/>
          <p:nvPr/>
        </p:nvSpPr>
        <p:spPr>
          <a:xfrm>
            <a:off x="1188720" y="4023360"/>
            <a:ext cx="10058400" cy="365760"/>
          </a:xfrm>
          <a:prstGeom prst="rect">
            <a:avLst/>
          </a:prstGeom>
          <a:noFill/>
        </p:spPr>
        <p:txBody>
          <a:bodyPr wrap="none">
            <a:spAutoFit/>
          </a:bodyPr>
          <a:lstStyle/>
          <a:p>
            <a:pPr>
              <a:defRPr sz="1800" b="1">
                <a:solidFill>
                  <a:srgbClr val="FFFFFF"/>
                </a:solidFill>
                <a:latin typeface="Segoe UI"/>
              </a:defRPr>
            </a:pPr>
            <a:r>
              <a:t>Participate in safety leaderboards</a:t>
            </a:r>
          </a:p>
        </p:txBody>
      </p:sp>
      <p:sp>
        <p:nvSpPr>
          <p:cNvPr id="16" name="TextBox 15"/>
          <p:cNvSpPr txBox="1"/>
          <p:nvPr/>
        </p:nvSpPr>
        <p:spPr>
          <a:xfrm>
            <a:off x="1188720" y="4389120"/>
            <a:ext cx="10058400" cy="731520"/>
          </a:xfrm>
          <a:prstGeom prst="rect">
            <a:avLst/>
          </a:prstGeom>
          <a:noFill/>
        </p:spPr>
        <p:txBody>
          <a:bodyPr wrap="square">
            <a:spAutoFit/>
          </a:bodyPr>
          <a:lstStyle/>
          <a:p>
            <a:pPr>
              <a:lnSpc>
                <a:spcPct val="120000"/>
              </a:lnSpc>
              <a:defRPr sz="1400">
                <a:solidFill>
                  <a:srgbClr val="B4B4C8"/>
                </a:solidFill>
                <a:latin typeface="Segoe UI"/>
              </a:defRPr>
            </a:pPr>
            <a:r>
              <a:t>BeSafe-Bench and ST-WebAgentBench leaderboards establish baseline safety scores. Industry transparency is near zero (MIT 2025: only 4 of 13 agents disclosed safety evaluations).</a:t>
            </a:r>
          </a:p>
        </p:txBody>
      </p:sp>
      <p:sp>
        <p:nvSpPr>
          <p:cNvPr id="17" name="Rectangle 16"/>
          <p:cNvSpPr/>
          <p:nvPr/>
        </p:nvSpPr>
        <p:spPr>
          <a:xfrm>
            <a:off x="0" y="6821424"/>
            <a:ext cx="12191695" cy="36576"/>
          </a:xfrm>
          <a:prstGeom prst="rect">
            <a:avLst/>
          </a:prstGeom>
          <a:solidFill>
            <a:srgbClr val="34DA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0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F1C40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65760"/>
            <a:ext cx="10972800" cy="731520"/>
          </a:xfrm>
          <a:prstGeom prst="rect">
            <a:avLst/>
          </a:prstGeom>
          <a:noFill/>
        </p:spPr>
        <p:txBody>
          <a:bodyPr wrap="none">
            <a:spAutoFit/>
          </a:bodyPr>
          <a:lstStyle/>
          <a:p>
            <a:pPr>
              <a:defRPr sz="3200" b="1">
                <a:solidFill>
                  <a:srgbClr val="FFFFFF"/>
                </a:solidFill>
                <a:latin typeface="Segoe UI"/>
              </a:defRPr>
            </a:pPr>
            <a:r>
              <a:t>The Critical Research Gap: Semantic Verification</a:t>
            </a:r>
          </a:p>
        </p:txBody>
      </p:sp>
      <p:sp>
        <p:nvSpPr>
          <p:cNvPr id="5" name="Rounded Rectangle 4"/>
          <p:cNvSpPr/>
          <p:nvPr/>
        </p:nvSpPr>
        <p:spPr>
          <a:xfrm>
            <a:off x="457200" y="1188720"/>
            <a:ext cx="11247120" cy="5120640"/>
          </a:xfrm>
          <a:prstGeom prst="roundRect">
            <a:avLst/>
          </a:prstGeom>
          <a:solidFill>
            <a:srgbClr val="1C1C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371600"/>
            <a:ext cx="10789920" cy="4754880"/>
          </a:xfrm>
          <a:prstGeom prst="rect">
            <a:avLst/>
          </a:prstGeom>
          <a:noFill/>
        </p:spPr>
        <p:txBody>
          <a:bodyPr wrap="square">
            <a:spAutoFit/>
          </a:bodyPr>
          <a:lstStyle/>
          <a:p>
            <a:pPr>
              <a:spcBef>
                <a:spcPts val="1200"/>
              </a:spcBef>
              <a:spcAft>
                <a:spcPts val="600"/>
              </a:spcAft>
              <a:defRPr sz="1600">
                <a:solidFill>
                  <a:srgbClr val="B4B4C8"/>
                </a:solidFill>
                <a:latin typeface="Segoe UI"/>
              </a:defRPr>
            </a:pPr>
            <a:r>
              <a:t>No one is doing semantic verification of skill descriptions.</a:t>
            </a:r>
          </a:p>
          <a:p>
            <a:pPr>
              <a:spcBef>
                <a:spcPts val="1200"/>
              </a:spcBef>
              <a:spcAft>
                <a:spcPts val="600"/>
              </a:spcAft>
              <a:defRPr sz="1600">
                <a:solidFill>
                  <a:srgbClr val="B4B4C8"/>
                </a:solidFill>
                <a:latin typeface="Segoe UI"/>
              </a:defRPr>
            </a:pPr>
            <a:r>
              <a:t>A SKILL.md can score 100% on format while describing a non-existent tool or false boundaries.</a:t>
            </a:r>
          </a:p>
          <a:p>
            <a:pPr>
              <a:spcBef>
                <a:spcPts val="1200"/>
              </a:spcBef>
              <a:spcAft>
                <a:spcPts val="600"/>
              </a:spcAft>
              <a:defRPr sz="1600">
                <a:solidFill>
                  <a:srgbClr val="B4B4C8"/>
                </a:solidFill>
                <a:latin typeface="Segoe UI"/>
              </a:defRPr>
            </a:pPr>
            <a:r>
              <a:t>What is needed: A verification framework that extracts claimed capabilities from a SKILL.md and produces a proof/test that those claims hold against the actual tool implementation.</a:t>
            </a:r>
          </a:p>
          <a:p>
            <a:pPr>
              <a:spcBef>
                <a:spcPts val="1200"/>
              </a:spcBef>
              <a:spcAft>
                <a:spcPts val="600"/>
              </a:spcAft>
              <a:defRPr sz="1600">
                <a:solidFill>
                  <a:srgbClr val="B4B4C8"/>
                </a:solidFill>
                <a:latin typeface="Segoe UI"/>
              </a:defRPr>
            </a:pPr>
            <a:r>
              <a:t>This would bridge Layer 0 and Layer 1—between a type checker and a contract verifier.</a:t>
            </a:r>
          </a:p>
          <a:p>
            <a:pPr>
              <a:spcBef>
                <a:spcPts val="1200"/>
              </a:spcBef>
              <a:spcAft>
                <a:spcPts val="600"/>
              </a:spcAft>
              <a:defRPr sz="1600">
                <a:solidFill>
                  <a:srgbClr val="B4B4C8"/>
                </a:solidFill>
                <a:latin typeface="Segoe UI"/>
              </a:defRPr>
            </a:pPr>
            <a:r>
              <a:t>Components are available: Anthropic schema, Microsoft allowed-tools, GovernSpec contracts, ST-WebAgentBench evaluators.</a:t>
            </a:r>
          </a:p>
          <a:p>
            <a:pPr>
              <a:spcBef>
                <a:spcPts val="1200"/>
              </a:spcBef>
              <a:spcAft>
                <a:spcPts val="600"/>
              </a:spcAft>
              <a:defRPr sz="1600">
                <a:solidFill>
                  <a:srgbClr val="B4B4C8"/>
                </a:solidFill>
                <a:latin typeface="Segoe UI"/>
              </a:defRPr>
            </a:pPr>
            <a:r>
              <a:t>No one has stitched them together yet.</a:t>
            </a:r>
          </a:p>
        </p:txBody>
      </p:sp>
      <p:sp>
        <p:nvSpPr>
          <p:cNvPr id="7" name="Rectangle 6"/>
          <p:cNvSpPr/>
          <p:nvPr/>
        </p:nvSpPr>
        <p:spPr>
          <a:xfrm>
            <a:off x="0" y="6821424"/>
            <a:ext cx="12191695" cy="36576"/>
          </a:xfrm>
          <a:prstGeom prst="rect">
            <a:avLst/>
          </a:prstGeom>
          <a:solidFill>
            <a:srgbClr val="F1C40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0F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4285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8686800" y="1371600"/>
            <a:ext cx="2743200" cy="2743200"/>
          </a:xfrm>
          <a:prstGeom prst="ellipse">
            <a:avLst/>
          </a:prstGeom>
          <a:solidFill>
            <a:srgbClr val="4285F4">
              <a:lumMod val="30000"/>
              <a:lumOff val="7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14400" y="5303520"/>
            <a:ext cx="274320" cy="274320"/>
          </a:xfrm>
          <a:prstGeom prst="rect">
            <a:avLst/>
          </a:prstGeom>
          <a:solidFill>
            <a:srgbClr val="34DA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371600" y="5029200"/>
            <a:ext cx="182880" cy="182880"/>
          </a:xfrm>
          <a:prstGeom prst="rect">
            <a:avLst/>
          </a:prstGeom>
          <a:solidFill>
            <a:srgbClr val="9B59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828800" y="4754880"/>
            <a:ext cx="137160" cy="137160"/>
          </a:xfrm>
          <a:prstGeom prst="rect">
            <a:avLst/>
          </a:prstGeom>
          <a:solidFill>
            <a:srgbClr val="34DA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286000"/>
            <a:ext cx="9144000" cy="1371600"/>
          </a:xfrm>
          <a:prstGeom prst="rect">
            <a:avLst/>
          </a:prstGeom>
          <a:noFill/>
        </p:spPr>
        <p:txBody>
          <a:bodyPr wrap="square">
            <a:spAutoFit/>
          </a:bodyPr>
          <a:lstStyle/>
          <a:p>
            <a:pPr>
              <a:defRPr sz="4800" b="1">
                <a:solidFill>
                  <a:srgbClr val="FFFFFF"/>
                </a:solidFill>
                <a:latin typeface="Segoe UI"/>
              </a:defRPr>
            </a:pPr>
            <a:r>
              <a:t>Thank You</a:t>
            </a:r>
          </a:p>
        </p:txBody>
      </p:sp>
      <p:sp>
        <p:nvSpPr>
          <p:cNvPr id="9" name="TextBox 8"/>
          <p:cNvSpPr txBox="1"/>
          <p:nvPr/>
        </p:nvSpPr>
        <p:spPr>
          <a:xfrm>
            <a:off x="731520" y="3840480"/>
            <a:ext cx="9144000" cy="1371600"/>
          </a:xfrm>
          <a:prstGeom prst="rect">
            <a:avLst/>
          </a:prstGeom>
          <a:noFill/>
        </p:spPr>
        <p:txBody>
          <a:bodyPr wrap="square">
            <a:spAutoFit/>
          </a:bodyPr>
          <a:lstStyle/>
          <a:p>
            <a:pPr>
              <a:defRPr sz="2000">
                <a:solidFill>
                  <a:srgbClr val="B4B4C8"/>
                </a:solidFill>
                <a:latin typeface="Segoe UI"/>
              </a:defRPr>
            </a:pPr>
            <a:r>
              <a:t>Questions?</a:t>
            </a:r>
            <a:br/>
            <a:br/>
            <a:r>
              <a:t>Full document with paper abstracts available in .docx</a:t>
            </a:r>
            <a:br/>
            <a:br/>
            <a:r>
              <a:t>Compiled by EvaPaper | 2026-05-30</a:t>
            </a:r>
          </a:p>
        </p:txBody>
      </p:sp>
      <p:sp>
        <p:nvSpPr>
          <p:cNvPr id="10" name="Rectangle 9"/>
          <p:cNvSpPr/>
          <p:nvPr/>
        </p:nvSpPr>
        <p:spPr>
          <a:xfrm>
            <a:off x="0" y="6803136"/>
            <a:ext cx="12191695" cy="54864"/>
          </a:xfrm>
          <a:prstGeom prst="rect">
            <a:avLst/>
          </a:prstGeom>
          <a:solidFill>
            <a:srgbClr val="4285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